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sldIdLst>
    <p:sldId id="361" r:id="rId3"/>
    <p:sldId id="362" r:id="rId4"/>
    <p:sldId id="363" r:id="rId5"/>
    <p:sldId id="364" r:id="rId6"/>
    <p:sldId id="365" r:id="rId7"/>
    <p:sldId id="302" r:id="rId8"/>
    <p:sldId id="359" r:id="rId9"/>
    <p:sldId id="360" r:id="rId10"/>
    <p:sldId id="342" r:id="rId11"/>
    <p:sldId id="314" r:id="rId12"/>
    <p:sldId id="332" r:id="rId13"/>
    <p:sldId id="298" r:id="rId14"/>
    <p:sldId id="333" r:id="rId15"/>
    <p:sldId id="345" r:id="rId16"/>
    <p:sldId id="343" r:id="rId17"/>
    <p:sldId id="334" r:id="rId18"/>
    <p:sldId id="344" r:id="rId19"/>
    <p:sldId id="346" r:id="rId20"/>
    <p:sldId id="347" r:id="rId21"/>
    <p:sldId id="351" r:id="rId22"/>
    <p:sldId id="348" r:id="rId23"/>
    <p:sldId id="350" r:id="rId24"/>
    <p:sldId id="352" r:id="rId25"/>
    <p:sldId id="353" r:id="rId26"/>
    <p:sldId id="35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87" d="100"/>
          <a:sy n="87" d="100"/>
        </p:scale>
        <p:origin x="-389"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10/20/2026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10/20/2026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pPr/>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solidFill>
                  <a:srgbClr val="FFFFFF">
                    <a:alpha val="70000"/>
                  </a:srgbClr>
                </a:solidFill>
              </a:rPr>
              <a:pPr/>
              <a:t>10/20/2026</a:t>
            </a:fld>
            <a:endParaRPr lang="en-US" dirty="0">
              <a:solidFill>
                <a:srgbClr val="FFFFFF">
                  <a:alpha val="70000"/>
                </a:srgbClr>
              </a:solidFill>
            </a:endParaRPr>
          </a:p>
        </p:txBody>
      </p:sp>
      <p:sp>
        <p:nvSpPr>
          <p:cNvPr id="8" name="Footer Placeholder 7"/>
          <p:cNvSpPr>
            <a:spLocks noGrp="1"/>
          </p:cNvSpPr>
          <p:nvPr>
            <p:ph type="ftr" sz="quarter" idx="11"/>
          </p:nvPr>
        </p:nvSpPr>
        <p:spPr/>
        <p:txBody>
          <a:bodyPr/>
          <a:lstStyle/>
          <a:p>
            <a:endParaRPr lang="en-US" dirty="0">
              <a:solidFill>
                <a:srgbClr val="FFFFFF">
                  <a:alpha val="70000"/>
                </a:srgbClr>
              </a:solidFill>
            </a:endParaRPr>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4980109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8" name="Footer Placeholder 7"/>
          <p:cNvSpPr>
            <a:spLocks noGrp="1"/>
          </p:cNvSpPr>
          <p:nvPr>
            <p:ph type="ftr" sz="quarter" idx="11"/>
          </p:nvPr>
        </p:nvSpPr>
        <p:spPr/>
        <p:txBody>
          <a:bodyPr/>
          <a:lstStyle/>
          <a:p>
            <a:endParaRPr lang="en-US" dirty="0">
              <a:solidFill>
                <a:srgbClr val="000000">
                  <a:alpha val="70000"/>
                </a:srgbClr>
              </a:solidFill>
            </a:endParaRPr>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1534336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solidFill>
                  <a:srgbClr val="FFFFFF">
                    <a:alpha val="70000"/>
                  </a:srgbClr>
                </a:solidFill>
              </a:rPr>
              <a:pPr/>
              <a:t>10/20/2026</a:t>
            </a:fld>
            <a:endParaRPr lang="en-US" dirty="0">
              <a:solidFill>
                <a:srgbClr val="FFFFFF">
                  <a:alpha val="70000"/>
                </a:srgbClr>
              </a:solidFill>
            </a:endParaRPr>
          </a:p>
        </p:txBody>
      </p:sp>
      <p:sp>
        <p:nvSpPr>
          <p:cNvPr id="8" name="Footer Placeholder 7"/>
          <p:cNvSpPr>
            <a:spLocks noGrp="1"/>
          </p:cNvSpPr>
          <p:nvPr>
            <p:ph type="ftr" sz="quarter" idx="11"/>
          </p:nvPr>
        </p:nvSpPr>
        <p:spPr/>
        <p:txBody>
          <a:bodyPr/>
          <a:lstStyle/>
          <a:p>
            <a:endParaRPr lang="en-US" dirty="0">
              <a:solidFill>
                <a:srgbClr val="FFFFFF">
                  <a:alpha val="70000"/>
                </a:srgbClr>
              </a:solidFill>
            </a:endParaRPr>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129384975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9" name="Footer Placeholder 8"/>
          <p:cNvSpPr>
            <a:spLocks noGrp="1"/>
          </p:cNvSpPr>
          <p:nvPr>
            <p:ph type="ftr" sz="quarter" idx="11"/>
          </p:nvPr>
        </p:nvSpPr>
        <p:spPr/>
        <p:txBody>
          <a:bodyPr/>
          <a:lstStyle/>
          <a:p>
            <a:endParaRPr lang="en-US" dirty="0">
              <a:solidFill>
                <a:srgbClr val="000000">
                  <a:alpha val="70000"/>
                </a:srgbClr>
              </a:solidFill>
            </a:endParaRPr>
          </a:p>
        </p:txBody>
      </p:sp>
      <p:sp>
        <p:nvSpPr>
          <p:cNvPr id="10" name="Slide Number Placeholder 9"/>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3034221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8" name="Footer Placeholder 7"/>
          <p:cNvSpPr>
            <a:spLocks noGrp="1"/>
          </p:cNvSpPr>
          <p:nvPr>
            <p:ph type="ftr" sz="quarter" idx="11"/>
          </p:nvPr>
        </p:nvSpPr>
        <p:spPr/>
        <p:txBody>
          <a:bodyPr/>
          <a:lstStyle/>
          <a:p>
            <a:endParaRPr lang="en-US" dirty="0">
              <a:solidFill>
                <a:srgbClr val="000000">
                  <a:alpha val="70000"/>
                </a:srgbClr>
              </a:solidFill>
            </a:endParaRPr>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2863554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4" name="Footer Placeholder 3"/>
          <p:cNvSpPr>
            <a:spLocks noGrp="1"/>
          </p:cNvSpPr>
          <p:nvPr>
            <p:ph type="ftr" sz="quarter" idx="11"/>
          </p:nvPr>
        </p:nvSpPr>
        <p:spPr/>
        <p:txBody>
          <a:bodyPr/>
          <a:lstStyle/>
          <a:p>
            <a:endParaRPr lang="en-US" dirty="0">
              <a:solidFill>
                <a:srgbClr val="000000">
                  <a:alpha val="70000"/>
                </a:srgbClr>
              </a:solidFill>
            </a:endParaRPr>
          </a:p>
        </p:txBody>
      </p:sp>
      <p:sp>
        <p:nvSpPr>
          <p:cNvPr id="5" name="Slide Number Placeholder 4"/>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20165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3" name="Footer Placeholder 2"/>
          <p:cNvSpPr>
            <a:spLocks noGrp="1"/>
          </p:cNvSpPr>
          <p:nvPr>
            <p:ph type="ftr" sz="quarter" idx="11"/>
          </p:nvPr>
        </p:nvSpPr>
        <p:spPr/>
        <p:txBody>
          <a:bodyPr/>
          <a:lstStyle/>
          <a:p>
            <a:endParaRPr lang="en-US" dirty="0">
              <a:solidFill>
                <a:srgbClr val="000000">
                  <a:alpha val="70000"/>
                </a:srgbClr>
              </a:solidFill>
            </a:endParaRPr>
          </a:p>
        </p:txBody>
      </p:sp>
      <p:sp>
        <p:nvSpPr>
          <p:cNvPr id="4" name="Slide Number Placeholder 3"/>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4033715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28776052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pPr/>
              <a:t>10/20/2026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691100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5" name="Footer Placeholder 4"/>
          <p:cNvSpPr>
            <a:spLocks noGrp="1"/>
          </p:cNvSpPr>
          <p:nvPr>
            <p:ph type="ftr" sz="quarter" idx="11"/>
          </p:nvPr>
        </p:nvSpPr>
        <p:spPr/>
        <p:txBody>
          <a:bodyPr/>
          <a:lstStyle/>
          <a:p>
            <a:endParaRPr lang="en-US" dirty="0">
              <a:solidFill>
                <a:srgbClr val="000000">
                  <a:alpha val="70000"/>
                </a:srgbClr>
              </a:solidFill>
            </a:endParaRPr>
          </a:p>
        </p:txBody>
      </p:sp>
      <p:sp>
        <p:nvSpPr>
          <p:cNvPr id="6" name="Slide Number Placeholder 5"/>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11305610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5" name="Footer Placeholder 4"/>
          <p:cNvSpPr>
            <a:spLocks noGrp="1"/>
          </p:cNvSpPr>
          <p:nvPr>
            <p:ph type="ftr" sz="quarter" idx="11"/>
          </p:nvPr>
        </p:nvSpPr>
        <p:spPr/>
        <p:txBody>
          <a:bodyPr/>
          <a:lstStyle/>
          <a:p>
            <a:endParaRPr lang="en-US" dirty="0">
              <a:solidFill>
                <a:srgbClr val="000000">
                  <a:alpha val="70000"/>
                </a:srgbClr>
              </a:solidFill>
            </a:endParaRPr>
          </a:p>
        </p:txBody>
      </p:sp>
      <p:sp>
        <p:nvSpPr>
          <p:cNvPr id="6" name="Slide Number Placeholder 5"/>
          <p:cNvSpPr>
            <a:spLocks noGrp="1"/>
          </p:cNvSpPr>
          <p:nvPr>
            <p:ph type="sldNum" sz="quarter" idx="12"/>
          </p:nvPr>
        </p:nvSpPr>
        <p:spPr/>
        <p:txBody>
          <a:bodyPr/>
          <a:lstStyle/>
          <a:p>
            <a:fld id="{8A7A6979-0714-4377-B894-6BE4C2D6E202}" type="slidenum">
              <a:rPr lang="en-US" dirty="0"/>
              <a:pPr/>
              <a:t>‹N›</a:t>
            </a:fld>
            <a:endParaRPr lang="en-US" dirty="0"/>
          </a:p>
        </p:txBody>
      </p:sp>
    </p:spTree>
    <p:extLst>
      <p:ext uri="{BB962C8B-B14F-4D97-AF65-F5344CB8AC3E}">
        <p14:creationId xmlns:p14="http://schemas.microsoft.com/office/powerpoint/2010/main" val="3278167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10/20/2026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a:t>
            </a:fld>
            <a:endParaRPr lang="en-US" dirty="0"/>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solidFill>
                  <a:srgbClr val="000000">
                    <a:alpha val="70000"/>
                  </a:srgbClr>
                </a:solidFill>
              </a:rPr>
              <a:pPr/>
              <a:t>10/20/2026</a:t>
            </a:fld>
            <a:endParaRPr lang="en-US" dirty="0">
              <a:solidFill>
                <a:srgbClr val="000000">
                  <a:alpha val="70000"/>
                </a:srgbClr>
              </a:solidFill>
            </a:endParaRPr>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solidFill>
                <a:srgbClr val="000000">
                  <a:alpha val="70000"/>
                </a:srgbClr>
              </a:solidFill>
            </a:endParaRP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a:t>
            </a:fld>
            <a:endParaRPr lang="en-US" dirty="0"/>
          </a:p>
        </p:txBody>
      </p:sp>
    </p:spTree>
    <p:extLst>
      <p:ext uri="{BB962C8B-B14F-4D97-AF65-F5344CB8AC3E}">
        <p14:creationId xmlns:p14="http://schemas.microsoft.com/office/powerpoint/2010/main" val="2420061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792415"/>
            <a:ext cx="6295293" cy="4887886"/>
          </a:xfrm>
          <a:prstGeom prst="rect">
            <a:avLst/>
          </a:prstGeom>
        </p:spPr>
      </p:pic>
      <p:pic>
        <p:nvPicPr>
          <p:cNvPr id="8" name="Immagin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9872" y="5383284"/>
            <a:ext cx="1318260" cy="1043940"/>
          </a:xfrm>
          <a:prstGeom prst="rect">
            <a:avLst/>
          </a:prstGeom>
        </p:spPr>
      </p:pic>
      <p:pic>
        <p:nvPicPr>
          <p:cNvPr id="9" name="Immagin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8132" y="5371684"/>
            <a:ext cx="5301761" cy="1486316"/>
          </a:xfrm>
          <a:prstGeom prst="rect">
            <a:avLst/>
          </a:prstGeom>
        </p:spPr>
      </p:pic>
      <p:sp>
        <p:nvSpPr>
          <p:cNvPr id="2" name="Titolo 1"/>
          <p:cNvSpPr>
            <a:spLocks noGrp="1"/>
          </p:cNvSpPr>
          <p:nvPr>
            <p:ph type="title"/>
          </p:nvPr>
        </p:nvSpPr>
        <p:spPr>
          <a:xfrm>
            <a:off x="1545235" y="54641"/>
            <a:ext cx="8688911" cy="728982"/>
          </a:xfrm>
        </p:spPr>
        <p:txBody>
          <a:bodyPr>
            <a:normAutofit fontScale="90000"/>
          </a:bodyPr>
          <a:lstStyle/>
          <a:p>
            <a:r>
              <a:rPr lang="fr-FR" sz="1800" dirty="0" smtClean="0"/>
              <a:t>la méditerranée au xii</a:t>
            </a:r>
            <a:r>
              <a:rPr lang="fr-FR" sz="1800" baseline="30000" dirty="0" smtClean="0"/>
              <a:t>è </a:t>
            </a:r>
            <a:r>
              <a:rPr lang="fr-FR" sz="1800" dirty="0" smtClean="0"/>
              <a:t>siècle: un carrefour de civilisation</a:t>
            </a:r>
            <a:endParaRPr lang="fr-FR" sz="1800" baseline="30000" dirty="0"/>
          </a:p>
        </p:txBody>
      </p:sp>
      <p:sp>
        <p:nvSpPr>
          <p:cNvPr id="10" name="Rettangolo arrotondato 9"/>
          <p:cNvSpPr/>
          <p:nvPr/>
        </p:nvSpPr>
        <p:spPr>
          <a:xfrm>
            <a:off x="-8790" y="792415"/>
            <a:ext cx="2963009" cy="2022231"/>
          </a:xfrm>
          <a:prstGeom prst="roundRect">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sz="1400" b="1" u="sng" dirty="0" smtClean="0">
                <a:solidFill>
                  <a:srgbClr val="000000"/>
                </a:solidFill>
              </a:rPr>
              <a:t>Question problématisée</a:t>
            </a:r>
            <a:r>
              <a:rPr lang="fr-FR" sz="1400" u="sng" dirty="0" smtClean="0">
                <a:solidFill>
                  <a:srgbClr val="000000"/>
                </a:solidFill>
              </a:rPr>
              <a:t>:  </a:t>
            </a:r>
            <a:r>
              <a:rPr lang="fr-FR" sz="1400" i="1" dirty="0" smtClean="0">
                <a:solidFill>
                  <a:srgbClr val="C00000"/>
                </a:solidFill>
              </a:rPr>
              <a:t>pourquoi considère-t-on la mer Méditerranée du XIIe siècle comme un moment fondateur de la civilisation européenne?</a:t>
            </a:r>
            <a:endParaRPr lang="fr-FR" sz="1400" i="1" u="sng" dirty="0">
              <a:solidFill>
                <a:srgbClr val="C00000"/>
              </a:solidFill>
            </a:endParaRPr>
          </a:p>
        </p:txBody>
      </p:sp>
      <p:sp>
        <p:nvSpPr>
          <p:cNvPr id="3" name="Rettangolo arrotondato 2"/>
          <p:cNvSpPr/>
          <p:nvPr/>
        </p:nvSpPr>
        <p:spPr>
          <a:xfrm>
            <a:off x="6374423" y="6427224"/>
            <a:ext cx="2435471" cy="43077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smtClean="0">
                <a:solidFill>
                  <a:srgbClr val="000000"/>
                </a:solidFill>
              </a:rPr>
              <a:t>Carte </a:t>
            </a:r>
            <a:r>
              <a:rPr lang="it-IT" sz="1200" b="1" dirty="0" err="1" smtClean="0">
                <a:solidFill>
                  <a:srgbClr val="000000"/>
                </a:solidFill>
              </a:rPr>
              <a:t>historique</a:t>
            </a:r>
            <a:r>
              <a:rPr lang="it-IT" sz="1200" b="1" dirty="0" smtClean="0">
                <a:solidFill>
                  <a:srgbClr val="000000"/>
                </a:solidFill>
              </a:rPr>
              <a:t>, H+, p. 9, M&amp;L, p. 14 </a:t>
            </a:r>
            <a:endParaRPr lang="it-IT" sz="1200" b="1" dirty="0">
              <a:solidFill>
                <a:srgbClr val="000000"/>
              </a:solidFill>
            </a:endParaRPr>
          </a:p>
        </p:txBody>
      </p:sp>
    </p:spTree>
    <p:extLst>
      <p:ext uri="{BB962C8B-B14F-4D97-AF65-F5344CB8AC3E}">
        <p14:creationId xmlns:p14="http://schemas.microsoft.com/office/powerpoint/2010/main" val="12072838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85800" y="228600"/>
            <a:ext cx="9601200" cy="489857"/>
          </a:xfrm>
        </p:spPr>
        <p:txBody>
          <a:bodyPr>
            <a:normAutofit fontScale="90000"/>
          </a:bodyPr>
          <a:lstStyle/>
          <a:p>
            <a:r>
              <a:rPr lang="fr-FR" sz="1600" b="1" dirty="0" smtClean="0"/>
              <a:t>La Méditerranée (XI-XIII siècle)</a:t>
            </a:r>
            <a:endParaRPr lang="fr-FR" sz="1600" b="1" dirty="0"/>
          </a:p>
        </p:txBody>
      </p:sp>
      <p:pic>
        <p:nvPicPr>
          <p:cNvPr id="4" name="Segnaposto contenuto 3" descr="crociate.jpg"/>
          <p:cNvPicPr>
            <a:picLocks noGrp="1" noChangeAspect="1"/>
          </p:cNvPicPr>
          <p:nvPr>
            <p:ph idx="1"/>
          </p:nvPr>
        </p:nvPicPr>
        <p:blipFill>
          <a:blip r:embed="rId2"/>
          <a:stretch>
            <a:fillRect/>
          </a:stretch>
        </p:blipFill>
        <p:spPr>
          <a:xfrm>
            <a:off x="729342" y="1077686"/>
            <a:ext cx="6958688" cy="4632000"/>
          </a:xfrm>
          <a:ln>
            <a:solidFill>
              <a:schemeClr val="accent1"/>
            </a:solidFill>
          </a:ln>
        </p:spPr>
      </p:pic>
      <p:sp>
        <p:nvSpPr>
          <p:cNvPr id="6" name="CasellaDiTesto 5"/>
          <p:cNvSpPr txBox="1"/>
          <p:nvPr/>
        </p:nvSpPr>
        <p:spPr>
          <a:xfrm>
            <a:off x="7717972" y="1828799"/>
            <a:ext cx="4474028" cy="2639633"/>
          </a:xfrm>
          <a:prstGeom prst="rect">
            <a:avLst/>
          </a:prstGeom>
          <a:noFill/>
        </p:spPr>
        <p:txBody>
          <a:bodyPr wrap="square" rtlCol="0">
            <a:spAutoFit/>
          </a:bodyPr>
          <a:lstStyle/>
          <a:p>
            <a:pPr>
              <a:lnSpc>
                <a:spcPct val="150000"/>
              </a:lnSpc>
            </a:pPr>
            <a:r>
              <a:rPr lang="fr-FR" sz="1400" b="1" dirty="0" smtClean="0"/>
              <a:t>La Méditerranée, </a:t>
            </a:r>
            <a:r>
              <a:rPr lang="fr-FR" sz="1400" dirty="0" smtClean="0"/>
              <a:t>carrefour de civilisations, espace de passage et d'échanges</a:t>
            </a:r>
            <a:r>
              <a:rPr lang="fr-FR" sz="1400" b="1" dirty="0" smtClean="0"/>
              <a:t>, est aussi un lieu de rivalités et de conflits </a:t>
            </a:r>
            <a:r>
              <a:rPr lang="fr-FR" sz="1400" dirty="0" smtClean="0"/>
              <a:t>dont la forme la plus apparente est</a:t>
            </a:r>
            <a:r>
              <a:rPr lang="fr-FR" sz="1400" b="1" dirty="0" smtClean="0"/>
              <a:t> au XIIe s. </a:t>
            </a:r>
            <a:r>
              <a:rPr lang="fr-FR" sz="1400" b="1" dirty="0" smtClean="0">
                <a:solidFill>
                  <a:srgbClr val="C00000"/>
                </a:solidFill>
              </a:rPr>
              <a:t>la</a:t>
            </a:r>
            <a:r>
              <a:rPr lang="fr-FR" sz="1400" b="1" dirty="0" smtClean="0"/>
              <a:t> </a:t>
            </a:r>
            <a:r>
              <a:rPr lang="fr-FR" sz="1400" b="1" dirty="0" smtClean="0">
                <a:solidFill>
                  <a:srgbClr val="C00000"/>
                </a:solidFill>
              </a:rPr>
              <a:t>croisade</a:t>
            </a:r>
            <a:r>
              <a:rPr lang="fr-FR" sz="1400" b="1" dirty="0" smtClean="0"/>
              <a:t>. </a:t>
            </a:r>
          </a:p>
          <a:p>
            <a:pPr>
              <a:lnSpc>
                <a:spcPct val="150000"/>
              </a:lnSpc>
            </a:pPr>
            <a:r>
              <a:rPr lang="fr-FR" sz="1400" dirty="0" smtClean="0"/>
              <a:t>Elle nous permet d'étudier </a:t>
            </a:r>
          </a:p>
          <a:p>
            <a:pPr>
              <a:lnSpc>
                <a:spcPct val="150000"/>
              </a:lnSpc>
            </a:pPr>
            <a:r>
              <a:rPr lang="fr-FR" sz="1400" b="1" dirty="0" smtClean="0"/>
              <a:t>1.</a:t>
            </a:r>
            <a:r>
              <a:rPr lang="fr-FR" sz="1400" b="1" dirty="0" smtClean="0">
                <a:solidFill>
                  <a:srgbClr val="C00000"/>
                </a:solidFill>
              </a:rPr>
              <a:t>la confrontation des civilisations</a:t>
            </a:r>
            <a:r>
              <a:rPr lang="fr-FR" sz="1400" b="1" dirty="0" smtClean="0"/>
              <a:t>,</a:t>
            </a:r>
          </a:p>
          <a:p>
            <a:pPr>
              <a:lnSpc>
                <a:spcPct val="150000"/>
              </a:lnSpc>
            </a:pPr>
            <a:r>
              <a:rPr lang="fr-FR" sz="1400" b="1" dirty="0" smtClean="0"/>
              <a:t>2.  </a:t>
            </a:r>
            <a:r>
              <a:rPr lang="fr-FR" sz="1400" dirty="0" smtClean="0"/>
              <a:t>mais aussi de mesurer </a:t>
            </a:r>
            <a:r>
              <a:rPr lang="fr-FR" sz="1400" b="1" dirty="0" smtClean="0">
                <a:solidFill>
                  <a:srgbClr val="C00000"/>
                </a:solidFill>
              </a:rPr>
              <a:t>les conséquences à long terme</a:t>
            </a:r>
            <a:r>
              <a:rPr lang="fr-FR" sz="1400" b="1" dirty="0" smtClean="0"/>
              <a:t> </a:t>
            </a:r>
            <a:r>
              <a:rPr lang="fr-FR" sz="1400" dirty="0" smtClean="0"/>
              <a:t>de ces événements </a:t>
            </a:r>
            <a:r>
              <a:rPr lang="fr-FR" sz="1400" b="1" dirty="0" smtClean="0">
                <a:solidFill>
                  <a:srgbClr val="C00000"/>
                </a:solidFill>
              </a:rPr>
              <a:t>sur la vision de l'Autre</a:t>
            </a:r>
            <a:r>
              <a:rPr lang="fr-FR" sz="1400" b="1" dirty="0" smtClean="0"/>
              <a:t>.</a:t>
            </a:r>
          </a:p>
        </p:txBody>
      </p:sp>
      <p:sp>
        <p:nvSpPr>
          <p:cNvPr id="5" name="Rettangolo arrotondato 4"/>
          <p:cNvSpPr/>
          <p:nvPr/>
        </p:nvSpPr>
        <p:spPr>
          <a:xfrm>
            <a:off x="4903805" y="720969"/>
            <a:ext cx="7094764" cy="485462"/>
          </a:xfrm>
          <a:prstGeom prst="roundRect">
            <a:avLst/>
          </a:prstGeom>
          <a:solidFill>
            <a:srgbClr val="FFFFFF"/>
          </a:solidFill>
          <a:ln w="12700" cap="flat" cmpd="sng" algn="ctr">
            <a:solidFill>
              <a:srgbClr val="C00000"/>
            </a:solidFill>
            <a:prstDash val="solid"/>
          </a:ln>
          <a:effectLst/>
        </p:spPr>
        <p:txBody>
          <a:bodyPr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fr-FR" sz="1400" b="1" i="0" u="none" strike="noStrike" kern="0" cap="none" spc="0" normalizeH="0" baseline="0" noProof="0" dirty="0" smtClean="0">
                <a:ln>
                  <a:noFill/>
                </a:ln>
                <a:solidFill>
                  <a:srgbClr val="C00000"/>
                </a:solidFill>
                <a:effectLst/>
                <a:uLnTx/>
                <a:uFillTx/>
                <a:latin typeface="Gill Sans MT"/>
                <a:ea typeface="+mn-ea"/>
                <a:cs typeface="+mn-cs"/>
              </a:rPr>
              <a:t>Leçon 3: </a:t>
            </a:r>
            <a:r>
              <a:rPr kumimoji="0" lang="fr-FR" sz="1400" b="1" i="0" u="none" strike="noStrike" kern="0" cap="none" spc="0" normalizeH="0" baseline="0" noProof="0" dirty="0" smtClean="0">
                <a:ln>
                  <a:noFill/>
                </a:ln>
                <a:solidFill>
                  <a:srgbClr val="000000"/>
                </a:solidFill>
                <a:effectLst/>
                <a:uLnTx/>
                <a:uFillTx/>
                <a:latin typeface="Gill Sans MT"/>
                <a:ea typeface="+mn-ea"/>
                <a:cs typeface="+mn-cs"/>
              </a:rPr>
              <a:t>L’expansion de la Chrétienté XI-XIIIème s. (pp</a:t>
            </a:r>
            <a:r>
              <a:rPr kumimoji="0" lang="fr-FR" sz="1400" b="1" i="0" u="none" strike="noStrike" kern="0" cap="none" spc="0" normalizeH="0" baseline="0" noProof="0" dirty="0">
                <a:ln>
                  <a:noFill/>
                </a:ln>
                <a:solidFill>
                  <a:srgbClr val="000000"/>
                </a:solidFill>
                <a:effectLst/>
                <a:uLnTx/>
                <a:uFillTx/>
                <a:latin typeface="Gill Sans MT"/>
                <a:ea typeface="+mn-ea"/>
                <a:cs typeface="+mn-cs"/>
              </a:rPr>
              <a:t>. </a:t>
            </a:r>
            <a:r>
              <a:rPr kumimoji="0" lang="fr-FR" sz="1400" b="1" i="0" u="none" strike="noStrike" kern="0" cap="none" spc="0" normalizeH="0" baseline="0" noProof="0" dirty="0" smtClean="0">
                <a:ln>
                  <a:noFill/>
                </a:ln>
                <a:solidFill>
                  <a:srgbClr val="000000"/>
                </a:solidFill>
                <a:effectLst/>
                <a:uLnTx/>
                <a:uFillTx/>
                <a:latin typeface="Gill Sans MT"/>
                <a:ea typeface="+mn-ea"/>
                <a:cs typeface="+mn-cs"/>
              </a:rPr>
              <a:t>22-24)</a:t>
            </a:r>
            <a:endParaRPr kumimoji="0" lang="fr-FR" sz="1400" b="1" i="0" u="none" strike="noStrike" kern="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24163016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106634" y="0"/>
            <a:ext cx="7210322" cy="609600"/>
          </a:xfrm>
        </p:spPr>
        <p:txBody>
          <a:bodyPr>
            <a:normAutofit fontScale="90000"/>
          </a:bodyPr>
          <a:lstStyle/>
          <a:p>
            <a:r>
              <a:rPr lang="fr-FR" sz="1600" b="1" dirty="0" smtClean="0">
                <a:solidFill>
                  <a:srgbClr val="C00000"/>
                </a:solidFill>
              </a:rPr>
              <a:t>Leçon 3. L’expansion de la Chrétienté (XI-XIIIème s,)</a:t>
            </a:r>
            <a:endParaRPr lang="it-IT" sz="1600" dirty="0">
              <a:solidFill>
                <a:srgbClr val="C00000"/>
              </a:solidFill>
            </a:endParaRPr>
          </a:p>
        </p:txBody>
      </p:sp>
      <p:sp>
        <p:nvSpPr>
          <p:cNvPr id="5" name="CasellaDiTesto 4"/>
          <p:cNvSpPr txBox="1"/>
          <p:nvPr/>
        </p:nvSpPr>
        <p:spPr>
          <a:xfrm>
            <a:off x="7413171" y="1068182"/>
            <a:ext cx="4778829" cy="4577150"/>
          </a:xfrm>
          <a:prstGeom prst="rect">
            <a:avLst/>
          </a:prstGeom>
          <a:noFill/>
        </p:spPr>
        <p:txBody>
          <a:bodyPr wrap="square" rtlCol="0" anchor="ctr">
            <a:spAutoFit/>
          </a:bodyPr>
          <a:lstStyle/>
          <a:p>
            <a:pPr>
              <a:lnSpc>
                <a:spcPct val="150000"/>
              </a:lnSpc>
            </a:pPr>
            <a:r>
              <a:rPr lang="fr-FR" sz="1400" b="1" dirty="0" smtClean="0">
                <a:solidFill>
                  <a:srgbClr val="C00000"/>
                </a:solidFill>
              </a:rPr>
              <a:t>Jusqu'à l’intervention du prophète Mahomet (571-632/VIIe s.),</a:t>
            </a:r>
            <a:r>
              <a:rPr lang="fr-FR" sz="1400" dirty="0" smtClean="0">
                <a:solidFill>
                  <a:srgbClr val="C00000"/>
                </a:solidFill>
              </a:rPr>
              <a:t> </a:t>
            </a:r>
            <a:r>
              <a:rPr lang="fr-FR" sz="1400" b="1" dirty="0" smtClean="0"/>
              <a:t>les</a:t>
            </a:r>
            <a:r>
              <a:rPr lang="fr-FR" sz="1400" dirty="0" smtClean="0"/>
              <a:t> anciennes </a:t>
            </a:r>
            <a:r>
              <a:rPr lang="fr-FR" sz="1400" b="1" dirty="0" smtClean="0"/>
              <a:t>provinces</a:t>
            </a:r>
            <a:r>
              <a:rPr lang="fr-FR" sz="1400" dirty="0" smtClean="0"/>
              <a:t> de l'Empire romain </a:t>
            </a:r>
            <a:r>
              <a:rPr lang="fr-FR" sz="1400" b="1" dirty="0" smtClean="0"/>
              <a:t>à l'est de la Méditerranée et en  Afrique du Nord sont </a:t>
            </a:r>
            <a:r>
              <a:rPr lang="fr-FR" sz="1400" dirty="0" smtClean="0"/>
              <a:t>en majorité </a:t>
            </a:r>
            <a:r>
              <a:rPr lang="fr-FR" sz="1400" b="1" dirty="0" smtClean="0"/>
              <a:t>chrétiennes</a:t>
            </a:r>
            <a:r>
              <a:rPr lang="fr-FR" sz="1400" dirty="0" smtClean="0"/>
              <a:t>. </a:t>
            </a:r>
          </a:p>
          <a:p>
            <a:pPr>
              <a:lnSpc>
                <a:spcPct val="150000"/>
              </a:lnSpc>
            </a:pPr>
            <a:r>
              <a:rPr lang="fr-FR" sz="1400" dirty="0" smtClean="0"/>
              <a:t>La situation se modifie avec l'expansion de l'islam:  </a:t>
            </a:r>
          </a:p>
          <a:p>
            <a:pPr>
              <a:lnSpc>
                <a:spcPct val="150000"/>
              </a:lnSpc>
              <a:buFont typeface="Wingdings" pitchFamily="2" charset="2"/>
              <a:buChar char="Ø"/>
            </a:pPr>
            <a:r>
              <a:rPr lang="fr-FR" sz="1400" b="1" dirty="0" smtClean="0"/>
              <a:t> </a:t>
            </a:r>
            <a:r>
              <a:rPr lang="fr-FR" sz="1400" b="1" dirty="0" smtClean="0">
                <a:solidFill>
                  <a:srgbClr val="C00000"/>
                </a:solidFill>
              </a:rPr>
              <a:t>Après 711</a:t>
            </a:r>
            <a:r>
              <a:rPr lang="fr-FR" sz="1400" b="1" dirty="0" smtClean="0"/>
              <a:t>, les Arabes conquièrent presque toute la péninsule ibérique</a:t>
            </a:r>
            <a:r>
              <a:rPr lang="fr-FR" sz="1400" dirty="0" smtClean="0"/>
              <a:t>. Leur progression en Europe est cependant stoppée, en 732, à la bataille de Poitiers. </a:t>
            </a:r>
          </a:p>
          <a:p>
            <a:pPr>
              <a:lnSpc>
                <a:spcPct val="150000"/>
              </a:lnSpc>
              <a:buFont typeface="Wingdings" pitchFamily="2" charset="2"/>
              <a:buChar char="Ø"/>
            </a:pPr>
            <a:r>
              <a:rPr lang="fr-FR" sz="1400" b="1" dirty="0" smtClean="0"/>
              <a:t> En Orient, l‘Islam se répand jusqu'en Asie centrale et à l'Indus. </a:t>
            </a:r>
          </a:p>
          <a:p>
            <a:pPr>
              <a:lnSpc>
                <a:spcPct val="150000"/>
              </a:lnSpc>
            </a:pPr>
            <a:r>
              <a:rPr lang="fr-FR" sz="1400" b="1" dirty="0" smtClean="0"/>
              <a:t>La </a:t>
            </a:r>
            <a:r>
              <a:rPr lang="fr-FR" sz="1400" b="1" dirty="0" smtClean="0">
                <a:solidFill>
                  <a:srgbClr val="C00000"/>
                </a:solidFill>
              </a:rPr>
              <a:t>tolérance</a:t>
            </a:r>
            <a:r>
              <a:rPr lang="fr-FR" sz="1400" b="1" dirty="0" smtClean="0"/>
              <a:t> des souverains musulmans à l'égard des autres religions</a:t>
            </a:r>
            <a:r>
              <a:rPr lang="fr-FR" sz="1400" dirty="0" smtClean="0"/>
              <a:t> permet, en de nombreux lieux, </a:t>
            </a:r>
            <a:r>
              <a:rPr lang="fr-FR" sz="1400" b="1" dirty="0" smtClean="0">
                <a:solidFill>
                  <a:srgbClr val="C00000"/>
                </a:solidFill>
              </a:rPr>
              <a:t>une coexistence relativement pacifique avec les autres confessions</a:t>
            </a:r>
            <a:r>
              <a:rPr lang="fr-FR" sz="1400" dirty="0" smtClean="0"/>
              <a:t>, par exemple en </a:t>
            </a:r>
            <a:r>
              <a:rPr lang="fr-FR" sz="1400" b="1" dirty="0" smtClean="0"/>
              <a:t>Espagne</a:t>
            </a:r>
            <a:r>
              <a:rPr lang="fr-FR" sz="1400" dirty="0" smtClean="0"/>
              <a:t>, avec les chrétiens et les juifs.</a:t>
            </a:r>
            <a:endParaRPr lang="it-IT" sz="1400" dirty="0"/>
          </a:p>
        </p:txBody>
      </p:sp>
      <p:pic>
        <p:nvPicPr>
          <p:cNvPr id="7" name="Segnaposto contenuto 6" descr="crociate.jpg"/>
          <p:cNvPicPr>
            <a:picLocks noGrp="1" noChangeAspect="1"/>
          </p:cNvPicPr>
          <p:nvPr>
            <p:ph idx="1"/>
          </p:nvPr>
        </p:nvPicPr>
        <p:blipFill>
          <a:blip r:embed="rId2"/>
          <a:stretch>
            <a:fillRect/>
          </a:stretch>
        </p:blipFill>
        <p:spPr>
          <a:xfrm>
            <a:off x="791388" y="1164771"/>
            <a:ext cx="6590537" cy="4386943"/>
          </a:xfrm>
          <a:ln>
            <a:solidFill>
              <a:schemeClr val="accent1"/>
            </a:solidFill>
          </a:ln>
        </p:spPr>
      </p:pic>
      <p:sp>
        <p:nvSpPr>
          <p:cNvPr id="9" name="Rettangolo arrotondato 8"/>
          <p:cNvSpPr/>
          <p:nvPr/>
        </p:nvSpPr>
        <p:spPr>
          <a:xfrm>
            <a:off x="800099" y="5539154"/>
            <a:ext cx="6613071" cy="485462"/>
          </a:xfrm>
          <a:prstGeom prst="roundRect">
            <a:avLst/>
          </a:prstGeom>
          <a:solidFill>
            <a:srgbClr val="FFFFFF"/>
          </a:solidFill>
          <a:ln w="12700" cap="flat" cmpd="sng" algn="ctr">
            <a:solidFill>
              <a:srgbClr val="C00000"/>
            </a:solidFill>
            <a:prstDash val="solid"/>
          </a:ln>
          <a:effectLst/>
        </p:spPr>
        <p:txBody>
          <a:bodyPr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fr-FR" sz="1400" b="1" i="0" u="none" strike="noStrike" kern="0" cap="none" spc="0" normalizeH="0" baseline="0" noProof="0" dirty="0" smtClean="0">
                <a:ln>
                  <a:noFill/>
                </a:ln>
                <a:solidFill>
                  <a:srgbClr val="000000"/>
                </a:solidFill>
                <a:effectLst/>
                <a:uLnTx/>
                <a:uFillTx/>
                <a:latin typeface="Gill Sans MT"/>
                <a:ea typeface="+mn-ea"/>
                <a:cs typeface="+mn-cs"/>
              </a:rPr>
              <a:t>L’expansion de l’Islam</a:t>
            </a:r>
            <a:endParaRPr kumimoji="0" lang="fr-FR" sz="1400" b="1" i="0" u="none" strike="noStrike" kern="0" cap="none" spc="0" normalizeH="0" baseline="0" noProof="0" dirty="0">
              <a:ln>
                <a:noFill/>
              </a:ln>
              <a:solidFill>
                <a:srgbClr val="C00000"/>
              </a:solidFill>
              <a:effectLst/>
              <a:uLnTx/>
              <a:uFillTx/>
              <a:latin typeface="Gill Sans MT"/>
              <a:ea typeface="+mn-ea"/>
              <a:cs typeface="+mn-cs"/>
            </a:endParaRPr>
          </a:p>
        </p:txBody>
      </p:sp>
      <p:sp>
        <p:nvSpPr>
          <p:cNvPr id="10" name="Rettangolo arrotondato 9"/>
          <p:cNvSpPr/>
          <p:nvPr/>
        </p:nvSpPr>
        <p:spPr>
          <a:xfrm>
            <a:off x="166323" y="389926"/>
            <a:ext cx="3886200" cy="873098"/>
          </a:xfrm>
          <a:prstGeom prst="roundRect">
            <a:avLst/>
          </a:prstGeom>
          <a:solidFill>
            <a:schemeClr val="bg1">
              <a:lumMod val="95000"/>
            </a:schemeClr>
          </a:solidFill>
          <a:ln w="127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sng" strike="noStrike" kern="0" cap="none" spc="0" normalizeH="0" baseline="0" noProof="0" dirty="0" smtClean="0">
                <a:ln>
                  <a:noFill/>
                </a:ln>
                <a:solidFill>
                  <a:srgbClr val="000000"/>
                </a:solidFill>
                <a:effectLst/>
                <a:uLnTx/>
                <a:uFillTx/>
                <a:latin typeface="Gill Sans MT"/>
                <a:ea typeface="+mn-ea"/>
                <a:cs typeface="+mn-cs"/>
              </a:rPr>
              <a:t>Question problématisée</a:t>
            </a:r>
            <a:r>
              <a:rPr kumimoji="0" lang="fr-FR" sz="1400" b="0" i="0" u="sng" strike="noStrike" kern="0" cap="none" spc="0" normalizeH="0" baseline="0" noProof="0" dirty="0" smtClean="0">
                <a:ln>
                  <a:noFill/>
                </a:ln>
                <a:solidFill>
                  <a:srgbClr val="000000"/>
                </a:solidFill>
                <a:effectLst/>
                <a:uLnTx/>
                <a:uFillTx/>
                <a:latin typeface="Gill Sans MT"/>
                <a:ea typeface="+mn-ea"/>
                <a:cs typeface="+mn-cs"/>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1" u="none" strike="noStrike" kern="0" cap="none" spc="0" normalizeH="0" baseline="0" noProof="0" dirty="0" smtClean="0">
                <a:ln>
                  <a:noFill/>
                </a:ln>
                <a:solidFill>
                  <a:srgbClr val="C00000"/>
                </a:solidFill>
                <a:effectLst/>
                <a:uLnTx/>
                <a:uFillTx/>
                <a:latin typeface="Gill Sans MT"/>
                <a:ea typeface="+mn-ea"/>
                <a:cs typeface="+mn-cs"/>
              </a:rPr>
              <a:t>Comment l’Eglise catholique cherche-t-elle à étendre son influence à</a:t>
            </a:r>
            <a:r>
              <a:rPr kumimoji="0" lang="fr-FR" sz="1400" b="0" i="1" u="none" strike="noStrike" kern="0" cap="none" spc="0" normalizeH="0" noProof="0" dirty="0" smtClean="0">
                <a:ln>
                  <a:noFill/>
                </a:ln>
                <a:solidFill>
                  <a:srgbClr val="C00000"/>
                </a:solidFill>
                <a:effectLst/>
                <a:uLnTx/>
                <a:uFillTx/>
                <a:latin typeface="Gill Sans MT"/>
                <a:ea typeface="+mn-ea"/>
                <a:cs typeface="+mn-cs"/>
              </a:rPr>
              <a:t> partir du XIème s.?</a:t>
            </a:r>
            <a:endParaRPr kumimoji="0" lang="fr-FR" sz="1400" b="0" i="1" u="sng" strike="noStrike" kern="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7440917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descr="crociate.jpg"/>
          <p:cNvPicPr>
            <a:picLocks noGrp="1" noChangeAspect="1"/>
          </p:cNvPicPr>
          <p:nvPr>
            <p:ph idx="1"/>
          </p:nvPr>
        </p:nvPicPr>
        <p:blipFill>
          <a:blip r:embed="rId2"/>
          <a:stretch>
            <a:fillRect/>
          </a:stretch>
        </p:blipFill>
        <p:spPr>
          <a:xfrm>
            <a:off x="729342" y="1077686"/>
            <a:ext cx="6958688" cy="4632000"/>
          </a:xfrm>
          <a:ln>
            <a:solidFill>
              <a:schemeClr val="accent1"/>
            </a:solidFill>
          </a:ln>
        </p:spPr>
      </p:pic>
      <p:sp>
        <p:nvSpPr>
          <p:cNvPr id="6" name="CasellaDiTesto 5"/>
          <p:cNvSpPr txBox="1"/>
          <p:nvPr/>
        </p:nvSpPr>
        <p:spPr>
          <a:xfrm>
            <a:off x="7717972" y="1209150"/>
            <a:ext cx="4474028" cy="4253985"/>
          </a:xfrm>
          <a:prstGeom prst="rect">
            <a:avLst/>
          </a:prstGeom>
          <a:noFill/>
        </p:spPr>
        <p:txBody>
          <a:bodyPr wrap="square" rtlCol="0">
            <a:spAutoFit/>
          </a:bodyPr>
          <a:lstStyle/>
          <a:p>
            <a:pPr>
              <a:lnSpc>
                <a:spcPct val="150000"/>
              </a:lnSpc>
            </a:pPr>
            <a:r>
              <a:rPr lang="fr-FR" sz="1400" b="1" dirty="0" smtClean="0">
                <a:solidFill>
                  <a:srgbClr val="C00000"/>
                </a:solidFill>
              </a:rPr>
              <a:t>A la fin du XIe siècle</a:t>
            </a:r>
            <a:r>
              <a:rPr lang="fr-FR" sz="1400" b="1" dirty="0" smtClean="0"/>
              <a:t>, l'initiative appartient aux chrétiens</a:t>
            </a:r>
            <a:r>
              <a:rPr lang="fr-FR" sz="1400" dirty="0" smtClean="0"/>
              <a:t>:</a:t>
            </a:r>
          </a:p>
          <a:p>
            <a:pPr>
              <a:lnSpc>
                <a:spcPct val="150000"/>
              </a:lnSpc>
              <a:buFont typeface="Wingdings" pitchFamily="2" charset="2"/>
              <a:buChar char="Ø"/>
            </a:pPr>
            <a:r>
              <a:rPr lang="fr-FR" sz="1400" dirty="0" smtClean="0"/>
              <a:t> En moins de deux siècles, </a:t>
            </a:r>
            <a:r>
              <a:rPr lang="fr-FR" sz="1400" b="1" dirty="0" smtClean="0"/>
              <a:t>ces derniers parviennent à reconquérir la plus grande partie de la péninsule ibérique</a:t>
            </a:r>
            <a:r>
              <a:rPr lang="fr-FR" sz="1400" dirty="0" smtClean="0"/>
              <a:t>. (la </a:t>
            </a:r>
            <a:r>
              <a:rPr lang="fr-FR" sz="1400" b="1" i="1" dirty="0" err="1" smtClean="0">
                <a:solidFill>
                  <a:srgbClr val="C00000"/>
                </a:solidFill>
              </a:rPr>
              <a:t>Reconquista</a:t>
            </a:r>
            <a:r>
              <a:rPr lang="fr-FR" sz="1400" dirty="0" smtClean="0"/>
              <a:t>  XII-XIVe s: </a:t>
            </a:r>
            <a:r>
              <a:rPr lang="fr-FR" sz="1400" b="1" dirty="0" smtClean="0"/>
              <a:t>2 janvier 1492 conquête de Granada</a:t>
            </a:r>
            <a:r>
              <a:rPr lang="fr-FR" sz="1400" dirty="0" smtClean="0"/>
              <a:t> de la part de </a:t>
            </a:r>
            <a:r>
              <a:rPr lang="fr-FR" sz="1400" b="1" i="1" dirty="0" smtClean="0"/>
              <a:t>Los Reyes </a:t>
            </a:r>
            <a:r>
              <a:rPr lang="fr-FR" sz="1400" b="1" i="1" dirty="0" err="1" smtClean="0"/>
              <a:t>Católicos</a:t>
            </a:r>
            <a:r>
              <a:rPr lang="fr-FR" sz="1400" dirty="0" smtClean="0"/>
              <a:t>, Ferdinand et Isabelle) . </a:t>
            </a:r>
          </a:p>
          <a:p>
            <a:pPr>
              <a:lnSpc>
                <a:spcPct val="150000"/>
              </a:lnSpc>
              <a:buFont typeface="Wingdings" pitchFamily="2" charset="2"/>
              <a:buChar char="Ø"/>
            </a:pPr>
            <a:r>
              <a:rPr lang="fr-FR" sz="1400" b="1" dirty="0" smtClean="0"/>
              <a:t> A la suite de l'appel du pape Urbain II </a:t>
            </a:r>
            <a:r>
              <a:rPr lang="fr-FR" sz="1400" b="1" dirty="0" smtClean="0">
                <a:solidFill>
                  <a:srgbClr val="C00000"/>
                </a:solidFill>
              </a:rPr>
              <a:t>en 1095, la première croisade</a:t>
            </a:r>
            <a:r>
              <a:rPr lang="fr-FR" sz="1400" dirty="0" smtClean="0"/>
              <a:t> permet </a:t>
            </a:r>
            <a:r>
              <a:rPr lang="fr-FR" sz="1400" b="1" dirty="0" smtClean="0"/>
              <a:t>la prise de Jérusalem et la création des États latins d'Orient.</a:t>
            </a:r>
            <a:r>
              <a:rPr lang="fr-FR" sz="1400" dirty="0" smtClean="0"/>
              <a:t> </a:t>
            </a:r>
          </a:p>
          <a:p>
            <a:pPr>
              <a:lnSpc>
                <a:spcPct val="150000"/>
              </a:lnSpc>
            </a:pPr>
            <a:r>
              <a:rPr lang="fr-FR" sz="1400" dirty="0" smtClean="0"/>
              <a:t>Mais </a:t>
            </a:r>
            <a:r>
              <a:rPr lang="fr-FR" sz="1400" b="1" dirty="0" smtClean="0"/>
              <a:t>les musulmans parviennent a bloquer leur avancé</a:t>
            </a:r>
            <a:r>
              <a:rPr lang="fr-FR" sz="1400" dirty="0" smtClean="0"/>
              <a:t>. Malgré de nouvelles croisades, les Occidentaux ne parviennent pas à s'implanter durablement en Terre Sainte </a:t>
            </a:r>
            <a:r>
              <a:rPr lang="fr-FR" sz="1400" b="1" dirty="0" smtClean="0"/>
              <a:t>et sont </a:t>
            </a:r>
            <a:r>
              <a:rPr lang="fr-FR" sz="1400" b="1" dirty="0" smtClean="0">
                <a:solidFill>
                  <a:srgbClr val="C00000"/>
                </a:solidFill>
              </a:rPr>
              <a:t>chassés</a:t>
            </a:r>
            <a:r>
              <a:rPr lang="fr-FR" sz="1400" b="1" dirty="0" smtClean="0"/>
              <a:t> du Proche-Orient </a:t>
            </a:r>
            <a:r>
              <a:rPr lang="fr-FR" sz="1400" b="1" dirty="0" smtClean="0">
                <a:solidFill>
                  <a:srgbClr val="C00000"/>
                </a:solidFill>
              </a:rPr>
              <a:t>en 1291</a:t>
            </a:r>
            <a:r>
              <a:rPr lang="fr-FR" sz="1400" b="1" dirty="0" smtClean="0"/>
              <a:t>.</a:t>
            </a:r>
          </a:p>
        </p:txBody>
      </p:sp>
      <p:sp>
        <p:nvSpPr>
          <p:cNvPr id="7" name="Titolo 1"/>
          <p:cNvSpPr txBox="1">
            <a:spLocks/>
          </p:cNvSpPr>
          <p:nvPr/>
        </p:nvSpPr>
        <p:spPr bwMode="black">
          <a:xfrm>
            <a:off x="4106634" y="0"/>
            <a:ext cx="7210322" cy="609600"/>
          </a:xfrm>
          <a:prstGeom prst="rect">
            <a:avLst/>
          </a:prstGeom>
          <a:solidFill>
            <a:srgbClr val="FFFFFF"/>
          </a:solidFill>
          <a:ln w="31750" cap="sq">
            <a:solidFill>
              <a:srgbClr val="404040"/>
            </a:solidFill>
            <a:miter lim="800000"/>
          </a:ln>
        </p:spPr>
        <p:txBody>
          <a:bodyPr vert="horz" lIns="182880" tIns="182880" rIns="182880" bIns="182880" rtlCol="0" anchor="ctr">
            <a:normAutofit fontScale="9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fr-FR" sz="1600" b="1" smtClean="0">
                <a:solidFill>
                  <a:srgbClr val="C00000"/>
                </a:solidFill>
              </a:rPr>
              <a:t>Leçon 3. L’expansion de la Chrétienté (XI-XIIIème s,)</a:t>
            </a:r>
            <a:endParaRPr lang="it-IT" sz="1600" dirty="0">
              <a:solidFill>
                <a:srgbClr val="C00000"/>
              </a:solidFill>
            </a:endParaRPr>
          </a:p>
        </p:txBody>
      </p:sp>
      <p:sp>
        <p:nvSpPr>
          <p:cNvPr id="8" name="Rettangolo arrotondato 7"/>
          <p:cNvSpPr/>
          <p:nvPr/>
        </p:nvSpPr>
        <p:spPr>
          <a:xfrm>
            <a:off x="720968" y="5688624"/>
            <a:ext cx="6613071" cy="485462"/>
          </a:xfrm>
          <a:prstGeom prst="roundRect">
            <a:avLst/>
          </a:prstGeom>
          <a:solidFill>
            <a:srgbClr val="FFFFFF"/>
          </a:solidFill>
          <a:ln w="12700" cap="flat" cmpd="sng" algn="ctr">
            <a:solidFill>
              <a:srgbClr val="C00000"/>
            </a:solidFill>
            <a:prstDash val="solid"/>
          </a:ln>
          <a:effectLst/>
        </p:spPr>
        <p:txBody>
          <a:bodyPr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fr-FR" sz="1400" b="1" i="0" u="none" strike="noStrike" kern="0" cap="none" spc="0" normalizeH="0" baseline="0" noProof="0" dirty="0" smtClean="0">
                <a:ln>
                  <a:noFill/>
                </a:ln>
                <a:solidFill>
                  <a:srgbClr val="000000"/>
                </a:solidFill>
                <a:effectLst/>
                <a:uLnTx/>
                <a:uFillTx/>
                <a:latin typeface="Gill Sans MT"/>
                <a:ea typeface="+mn-ea"/>
                <a:cs typeface="+mn-cs"/>
              </a:rPr>
              <a:t>L’expansion de la Chrétienté: les croisades</a:t>
            </a:r>
            <a:endParaRPr kumimoji="0" lang="fr-FR" sz="1400" b="1" i="0" u="none" strike="noStrike" kern="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3119968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p:cNvSpPr txBox="1"/>
          <p:nvPr/>
        </p:nvSpPr>
        <p:spPr>
          <a:xfrm>
            <a:off x="7717972" y="1872342"/>
            <a:ext cx="4474028" cy="2961323"/>
          </a:xfrm>
          <a:prstGeom prst="rect">
            <a:avLst/>
          </a:prstGeom>
          <a:noFill/>
        </p:spPr>
        <p:txBody>
          <a:bodyPr wrap="square" rtlCol="0">
            <a:spAutoFit/>
          </a:bodyPr>
          <a:lstStyle/>
          <a:p>
            <a:pPr>
              <a:lnSpc>
                <a:spcPct val="150000"/>
              </a:lnSpc>
            </a:pPr>
            <a:r>
              <a:rPr lang="fr-FR" sz="1400" b="1" dirty="0" smtClean="0"/>
              <a:t>Les croisades n'entravent pas le commerce entre les deux rives de la Méditerranée</a:t>
            </a:r>
            <a:r>
              <a:rPr lang="fr-FR" sz="1400" dirty="0" smtClean="0"/>
              <a:t>. </a:t>
            </a:r>
          </a:p>
          <a:p>
            <a:pPr>
              <a:lnSpc>
                <a:spcPct val="150000"/>
              </a:lnSpc>
            </a:pPr>
            <a:r>
              <a:rPr lang="fr-FR" sz="1400" b="1" dirty="0" smtClean="0"/>
              <a:t>L'Occident chrétien </a:t>
            </a:r>
            <a:r>
              <a:rPr lang="fr-FR" sz="1400" dirty="0" smtClean="0"/>
              <a:t>dispose d'importants </a:t>
            </a:r>
            <a:r>
              <a:rPr lang="fr-FR" sz="1400" b="1" dirty="0" smtClean="0">
                <a:solidFill>
                  <a:srgbClr val="C00000"/>
                </a:solidFill>
              </a:rPr>
              <a:t>surplus agricoles et artisanaux</a:t>
            </a:r>
            <a:r>
              <a:rPr lang="fr-FR" sz="1400" dirty="0" smtClean="0"/>
              <a:t>, qu'il </a:t>
            </a:r>
            <a:r>
              <a:rPr lang="fr-FR" sz="1400" b="1" dirty="0" smtClean="0"/>
              <a:t>échange contre des </a:t>
            </a:r>
            <a:r>
              <a:rPr lang="fr-FR" sz="1400" b="1" dirty="0" smtClean="0">
                <a:solidFill>
                  <a:srgbClr val="C00000"/>
                </a:solidFill>
              </a:rPr>
              <a:t>denrées précieuses</a:t>
            </a:r>
            <a:r>
              <a:rPr lang="fr-FR" sz="1400" dirty="0" smtClean="0">
                <a:solidFill>
                  <a:srgbClr val="C00000"/>
                </a:solidFill>
              </a:rPr>
              <a:t>, </a:t>
            </a:r>
            <a:r>
              <a:rPr lang="fr-FR" sz="1400" dirty="0" smtClean="0"/>
              <a:t>souvent </a:t>
            </a:r>
            <a:r>
              <a:rPr lang="fr-FR" sz="1400" b="1" dirty="0" smtClean="0"/>
              <a:t>ramenées d'Inde ou de Chine par </a:t>
            </a:r>
            <a:r>
              <a:rPr lang="fr-FR" sz="1400" dirty="0" smtClean="0"/>
              <a:t>des caravaniers et des marins </a:t>
            </a:r>
            <a:r>
              <a:rPr lang="fr-FR" sz="1400" b="1" dirty="0" smtClean="0"/>
              <a:t>arabes</a:t>
            </a:r>
            <a:r>
              <a:rPr lang="fr-FR" sz="1400" dirty="0" smtClean="0"/>
              <a:t>. Ce commerce est à l'origine de la </a:t>
            </a:r>
            <a:r>
              <a:rPr lang="fr-FR" sz="1400" b="1" dirty="0" smtClean="0">
                <a:solidFill>
                  <a:srgbClr val="C00000"/>
                </a:solidFill>
              </a:rPr>
              <a:t>prospérité des ports méditerranéens</a:t>
            </a:r>
            <a:r>
              <a:rPr lang="fr-FR" sz="1400" b="1" dirty="0" smtClean="0"/>
              <a:t>, en particulier Gênes et Venise </a:t>
            </a:r>
            <a:r>
              <a:rPr lang="fr-FR" sz="1400" dirty="0" smtClean="0"/>
              <a:t>grâce à la puissance de leur flotte et à leurs nombreux comptoirs en Orient.</a:t>
            </a:r>
          </a:p>
        </p:txBody>
      </p:sp>
      <p:pic>
        <p:nvPicPr>
          <p:cNvPr id="7" name="Segnaposto contenuto 6" descr="crociate_2.jpg"/>
          <p:cNvPicPr>
            <a:picLocks noGrp="1" noChangeAspect="1"/>
          </p:cNvPicPr>
          <p:nvPr>
            <p:ph idx="1"/>
          </p:nvPr>
        </p:nvPicPr>
        <p:blipFill>
          <a:blip r:embed="rId2"/>
          <a:stretch>
            <a:fillRect/>
          </a:stretch>
        </p:blipFill>
        <p:spPr>
          <a:xfrm>
            <a:off x="748261" y="1132115"/>
            <a:ext cx="6881155" cy="4441371"/>
          </a:xfrm>
          <a:ln>
            <a:solidFill>
              <a:schemeClr val="accent1"/>
            </a:solidFill>
          </a:ln>
        </p:spPr>
      </p:pic>
      <p:sp>
        <p:nvSpPr>
          <p:cNvPr id="8" name="Titolo 1"/>
          <p:cNvSpPr txBox="1">
            <a:spLocks/>
          </p:cNvSpPr>
          <p:nvPr/>
        </p:nvSpPr>
        <p:spPr bwMode="black">
          <a:xfrm>
            <a:off x="4106634" y="0"/>
            <a:ext cx="7210322" cy="609600"/>
          </a:xfrm>
          <a:prstGeom prst="rect">
            <a:avLst/>
          </a:prstGeom>
          <a:solidFill>
            <a:srgbClr val="FFFFFF"/>
          </a:solidFill>
          <a:ln w="31750" cap="sq">
            <a:solidFill>
              <a:srgbClr val="404040"/>
            </a:solidFill>
            <a:miter lim="800000"/>
          </a:ln>
        </p:spPr>
        <p:txBody>
          <a:bodyPr vert="horz" lIns="182880" tIns="182880" rIns="182880" bIns="182880" rtlCol="0" anchor="ctr">
            <a:normAutofit fontScale="9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fr-FR" sz="1600" b="1" smtClean="0">
                <a:solidFill>
                  <a:srgbClr val="C00000"/>
                </a:solidFill>
              </a:rPr>
              <a:t>Leçon 3. L’expansion de la Chrétienté (XI-XIIIème s,)</a:t>
            </a:r>
            <a:endParaRPr lang="it-IT" sz="1600" dirty="0">
              <a:solidFill>
                <a:srgbClr val="C00000"/>
              </a:solidFill>
            </a:endParaRPr>
          </a:p>
        </p:txBody>
      </p:sp>
      <p:sp>
        <p:nvSpPr>
          <p:cNvPr id="9" name="Rettangolo arrotondato 8"/>
          <p:cNvSpPr/>
          <p:nvPr/>
        </p:nvSpPr>
        <p:spPr>
          <a:xfrm>
            <a:off x="720967" y="5591909"/>
            <a:ext cx="6928341" cy="485462"/>
          </a:xfrm>
          <a:prstGeom prst="roundRect">
            <a:avLst/>
          </a:prstGeom>
          <a:solidFill>
            <a:srgbClr val="FFFFFF"/>
          </a:solidFill>
          <a:ln w="12700" cap="flat" cmpd="sng" algn="ctr">
            <a:solidFill>
              <a:srgbClr val="C00000"/>
            </a:solidFill>
            <a:prstDash val="solid"/>
          </a:ln>
          <a:effectLst/>
        </p:spPr>
        <p:txBody>
          <a:bodyPr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fr-FR" sz="1400" b="1" i="0" u="none" strike="noStrike" kern="0" cap="none" spc="0" normalizeH="0" baseline="0" noProof="0" dirty="0" smtClean="0">
                <a:ln>
                  <a:noFill/>
                </a:ln>
                <a:solidFill>
                  <a:srgbClr val="000000"/>
                </a:solidFill>
                <a:effectLst/>
                <a:uLnTx/>
                <a:uFillTx/>
                <a:latin typeface="Gill Sans MT"/>
                <a:ea typeface="+mn-ea"/>
                <a:cs typeface="+mn-cs"/>
              </a:rPr>
              <a:t>Le commerce en Méditerranée</a:t>
            </a:r>
            <a:endParaRPr kumimoji="0" lang="fr-FR" sz="1400" b="1" i="0" u="none" strike="noStrike" kern="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7312917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fr-FR" sz="2400" dirty="0" smtClean="0"/>
              <a:t>Qu’est-que Les croisades (XI-XIII</a:t>
            </a:r>
            <a:r>
              <a:rPr lang="fr-FR" sz="2400" cap="none" dirty="0" smtClean="0"/>
              <a:t>e s)</a:t>
            </a:r>
            <a:endParaRPr lang="fr-FR" sz="2400" cap="none" dirty="0"/>
          </a:p>
        </p:txBody>
      </p:sp>
      <p:sp>
        <p:nvSpPr>
          <p:cNvPr id="3" name="Sottotitolo 2"/>
          <p:cNvSpPr>
            <a:spLocks noGrp="1"/>
          </p:cNvSpPr>
          <p:nvPr>
            <p:ph type="subTitle" idx="1"/>
          </p:nvPr>
        </p:nvSpPr>
        <p:spPr/>
        <p:txBody>
          <a:bodyPr>
            <a:normAutofit fontScale="92500"/>
          </a:bodyPr>
          <a:lstStyle/>
          <a:p>
            <a:pPr>
              <a:lnSpc>
                <a:spcPct val="150000"/>
              </a:lnSpc>
            </a:pPr>
            <a:r>
              <a:rPr lang="fr-FR" sz="2000" dirty="0" smtClean="0"/>
              <a:t>Un </a:t>
            </a:r>
            <a:r>
              <a:rPr lang="fr-FR" sz="2000" b="1" dirty="0" smtClean="0">
                <a:solidFill>
                  <a:srgbClr val="C00000"/>
                </a:solidFill>
              </a:rPr>
              <a:t>pèlerinage armé</a:t>
            </a:r>
            <a:r>
              <a:rPr lang="fr-FR" sz="2000" dirty="0" smtClean="0"/>
              <a:t>, une </a:t>
            </a:r>
            <a:r>
              <a:rPr lang="fr-FR" sz="2000" b="1" dirty="0" smtClean="0">
                <a:solidFill>
                  <a:srgbClr val="C00000"/>
                </a:solidFill>
              </a:rPr>
              <a:t>guerre sainte </a:t>
            </a:r>
            <a:r>
              <a:rPr lang="fr-FR" sz="2000" b="1" dirty="0" smtClean="0">
                <a:solidFill>
                  <a:schemeClr val="tx1"/>
                </a:solidFill>
              </a:rPr>
              <a:t>opposée au</a:t>
            </a:r>
            <a:r>
              <a:rPr lang="fr-FR" sz="2000" b="1" dirty="0" smtClean="0">
                <a:solidFill>
                  <a:srgbClr val="C00000"/>
                </a:solidFill>
              </a:rPr>
              <a:t> djihad (jihad)</a:t>
            </a:r>
            <a:r>
              <a:rPr lang="fr-FR" sz="2000" dirty="0" smtClean="0"/>
              <a:t>, </a:t>
            </a:r>
          </a:p>
          <a:p>
            <a:pPr>
              <a:lnSpc>
                <a:spcPct val="150000"/>
              </a:lnSpc>
            </a:pPr>
            <a:r>
              <a:rPr lang="fr-FR" sz="2000" dirty="0" smtClean="0"/>
              <a:t>une </a:t>
            </a:r>
            <a:r>
              <a:rPr lang="fr-FR" sz="2000" b="1" dirty="0" smtClean="0">
                <a:solidFill>
                  <a:srgbClr val="C00000"/>
                </a:solidFill>
              </a:rPr>
              <a:t>conquête économique et politique</a:t>
            </a:r>
            <a:r>
              <a:rPr lang="fr-FR" sz="2000" dirty="0" smtClean="0"/>
              <a:t>?</a:t>
            </a:r>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fr-FR" sz="1800" b="1" dirty="0"/>
              <a:t>La pratique du </a:t>
            </a:r>
            <a:r>
              <a:rPr lang="fr-FR" sz="1800" b="1" dirty="0">
                <a:solidFill>
                  <a:srgbClr val="C00000"/>
                </a:solidFill>
              </a:rPr>
              <a:t>pèlerinage</a:t>
            </a:r>
            <a:r>
              <a:rPr lang="fr-FR" sz="1800" b="1" dirty="0"/>
              <a:t>, le passage sacré (</a:t>
            </a:r>
            <a:r>
              <a:rPr lang="fr-FR" sz="1800" b="1" dirty="0" err="1"/>
              <a:t>passagium</a:t>
            </a:r>
            <a:r>
              <a:rPr lang="fr-FR" sz="1800" b="1" dirty="0"/>
              <a:t>)</a:t>
            </a:r>
            <a:endParaRPr lang="it-IT" sz="1800" b="1" dirty="0"/>
          </a:p>
        </p:txBody>
      </p:sp>
      <p:pic>
        <p:nvPicPr>
          <p:cNvPr id="4" name="Segnaposto contenuto 3" descr="Autun-âmes_en_jugement.3.jpg"/>
          <p:cNvPicPr>
            <a:picLocks noGrp="1" noChangeAspect="1"/>
          </p:cNvPicPr>
          <p:nvPr>
            <p:ph idx="1"/>
          </p:nvPr>
        </p:nvPicPr>
        <p:blipFill>
          <a:blip r:embed="rId2"/>
          <a:stretch>
            <a:fillRect/>
          </a:stretch>
        </p:blipFill>
        <p:spPr>
          <a:xfrm>
            <a:off x="2150141" y="2137587"/>
            <a:ext cx="5076092" cy="3384061"/>
          </a:xfrm>
          <a:ln>
            <a:solidFill>
              <a:srgbClr val="C00000"/>
            </a:solidFill>
          </a:ln>
        </p:spPr>
      </p:pic>
      <p:sp>
        <p:nvSpPr>
          <p:cNvPr id="6" name="CasellaDiTesto 5"/>
          <p:cNvSpPr txBox="1"/>
          <p:nvPr/>
        </p:nvSpPr>
        <p:spPr>
          <a:xfrm>
            <a:off x="2150138" y="5521650"/>
            <a:ext cx="5076095" cy="955903"/>
          </a:xfrm>
          <a:prstGeom prst="rect">
            <a:avLst/>
          </a:prstGeom>
          <a:noFill/>
          <a:ln>
            <a:solidFill>
              <a:srgbClr val="C00000"/>
            </a:solidFill>
          </a:ln>
        </p:spPr>
        <p:txBody>
          <a:bodyPr wrap="square" rtlCol="0">
            <a:spAutoFit/>
          </a:bodyPr>
          <a:lstStyle/>
          <a:p>
            <a:pPr>
              <a:lnSpc>
                <a:spcPct val="150000"/>
              </a:lnSpc>
            </a:pPr>
            <a:r>
              <a:rPr lang="fr-FR" sz="1200" b="1" dirty="0"/>
              <a:t>Cathédrale d'Autun, Jugement dernier, XIIe siècle. </a:t>
            </a:r>
            <a:r>
              <a:rPr lang="fr-FR" sz="1200" dirty="0"/>
              <a:t>Parmi ceux qui ont gagné le paradis, on trouve les pèlerins de Jérusalem et de Compostelle, identifiés respectivement par la croix et la coquille.</a:t>
            </a:r>
            <a:endParaRPr lang="it-IT" sz="1200" dirty="0"/>
          </a:p>
        </p:txBody>
      </p:sp>
      <p:sp>
        <p:nvSpPr>
          <p:cNvPr id="7" name="Ovale 6"/>
          <p:cNvSpPr/>
          <p:nvPr/>
        </p:nvSpPr>
        <p:spPr>
          <a:xfrm>
            <a:off x="2644599" y="3867020"/>
            <a:ext cx="696685" cy="41365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vale 7"/>
          <p:cNvSpPr/>
          <p:nvPr/>
        </p:nvSpPr>
        <p:spPr>
          <a:xfrm>
            <a:off x="3295648" y="3789977"/>
            <a:ext cx="696685" cy="41365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Ovale 8"/>
          <p:cNvSpPr/>
          <p:nvPr/>
        </p:nvSpPr>
        <p:spPr>
          <a:xfrm>
            <a:off x="4550441" y="2698896"/>
            <a:ext cx="1415143" cy="41365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p:cNvSpPr txBox="1"/>
          <p:nvPr/>
        </p:nvSpPr>
        <p:spPr>
          <a:xfrm>
            <a:off x="7226232" y="2116182"/>
            <a:ext cx="2656322" cy="4247317"/>
          </a:xfrm>
          <a:prstGeom prst="rect">
            <a:avLst/>
          </a:prstGeom>
          <a:noFill/>
          <a:ln>
            <a:noFill/>
          </a:ln>
        </p:spPr>
        <p:txBody>
          <a:bodyPr wrap="square" rtlCol="0">
            <a:spAutoFit/>
          </a:bodyPr>
          <a:lstStyle/>
          <a:p>
            <a:pPr>
              <a:lnSpc>
                <a:spcPct val="150000"/>
              </a:lnSpc>
            </a:pPr>
            <a:r>
              <a:rPr lang="it-IT" sz="1200" dirty="0" smtClean="0"/>
              <a:t>	“</a:t>
            </a:r>
            <a:r>
              <a:rPr lang="fr-FR" sz="1200" i="1" dirty="0"/>
              <a:t>De tous les coins du monde commença à affluer vers le tombeau du Sauveur, à Jérusalem, une foule immense, telle que personne n'avait jamais osé l'espérer. Il y eut des représentants de la basse plèbe, puis des classes moyennes, puis de tous les grands, rois, comtes, marquis, évêques, et enfin, comme jamais auparavant, de nombreuses femmes de la noblesse avec d'autres plus pauvres. Dans beaucoup de cœurs, il y avait l'espoir de mourir avant de rentrer chez soi</a:t>
            </a:r>
            <a:r>
              <a:rPr lang="it-IT" sz="1200" b="1" dirty="0" smtClean="0"/>
              <a:t> </a:t>
            </a:r>
          </a:p>
          <a:p>
            <a:pPr>
              <a:lnSpc>
                <a:spcPct val="150000"/>
              </a:lnSpc>
            </a:pPr>
            <a:r>
              <a:rPr lang="it-IT" sz="1200" dirty="0" smtClean="0"/>
              <a:t>Rodolfo il Glabro, monaco, XII secolo</a:t>
            </a:r>
          </a:p>
        </p:txBody>
      </p:sp>
      <p:cxnSp>
        <p:nvCxnSpPr>
          <p:cNvPr id="5" name="Connettore 2 4"/>
          <p:cNvCxnSpPr/>
          <p:nvPr/>
        </p:nvCxnSpPr>
        <p:spPr>
          <a:xfrm flipH="1">
            <a:off x="5258012" y="1881554"/>
            <a:ext cx="492157" cy="817342"/>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CasellaDiTesto 10"/>
          <p:cNvSpPr txBox="1"/>
          <p:nvPr/>
        </p:nvSpPr>
        <p:spPr>
          <a:xfrm>
            <a:off x="4883550" y="1576835"/>
            <a:ext cx="1974450" cy="307777"/>
          </a:xfrm>
          <a:prstGeom prst="rect">
            <a:avLst/>
          </a:prstGeom>
          <a:noFill/>
          <a:ln>
            <a:solidFill>
              <a:srgbClr val="C00000"/>
            </a:solidFill>
          </a:ln>
        </p:spPr>
        <p:txBody>
          <a:bodyPr wrap="square" rtlCol="0">
            <a:spAutoFit/>
          </a:bodyPr>
          <a:lstStyle/>
          <a:p>
            <a:r>
              <a:rPr lang="it-IT" sz="1400" dirty="0" err="1" smtClean="0"/>
              <a:t>SculpteurGislebertus</a:t>
            </a:r>
            <a:endParaRPr lang="it-IT" sz="1400" dirty="0"/>
          </a:p>
        </p:txBody>
      </p:sp>
    </p:spTree>
    <p:extLst>
      <p:ext uri="{BB962C8B-B14F-4D97-AF65-F5344CB8AC3E}">
        <p14:creationId xmlns:p14="http://schemas.microsoft.com/office/powerpoint/2010/main" val="39388759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85057" y="283030"/>
            <a:ext cx="4555671" cy="936171"/>
          </a:xfrm>
        </p:spPr>
        <p:txBody>
          <a:bodyPr anchor="ctr"/>
          <a:lstStyle/>
          <a:p>
            <a:pPr>
              <a:lnSpc>
                <a:spcPct val="150000"/>
              </a:lnSpc>
            </a:pPr>
            <a:r>
              <a:rPr lang="it-IT" sz="1800" dirty="0" smtClean="0">
                <a:solidFill>
                  <a:srgbClr val="C00000"/>
                </a:solidFill>
              </a:rPr>
              <a:t>J. Le </a:t>
            </a:r>
            <a:r>
              <a:rPr lang="it-IT" sz="1800" dirty="0" err="1" smtClean="0">
                <a:solidFill>
                  <a:srgbClr val="C00000"/>
                </a:solidFill>
              </a:rPr>
              <a:t>Goff</a:t>
            </a:r>
            <a:r>
              <a:rPr lang="it-IT" sz="1800" dirty="0" smtClean="0">
                <a:solidFill>
                  <a:srgbClr val="C00000"/>
                </a:solidFill>
              </a:rPr>
              <a:t>, </a:t>
            </a:r>
            <a:r>
              <a:rPr lang="it-IT" sz="1800" i="1" dirty="0" smtClean="0">
                <a:solidFill>
                  <a:srgbClr val="C00000"/>
                </a:solidFill>
              </a:rPr>
              <a:t>La nascita del Purgatorio,  </a:t>
            </a:r>
            <a:r>
              <a:rPr lang="it-IT" sz="1800" dirty="0" smtClean="0">
                <a:solidFill>
                  <a:srgbClr val="C00000"/>
                </a:solidFill>
              </a:rPr>
              <a:t>1981</a:t>
            </a:r>
            <a:endParaRPr lang="it-IT" sz="1800" dirty="0">
              <a:solidFill>
                <a:srgbClr val="C00000"/>
              </a:solidFill>
            </a:endParaRPr>
          </a:p>
        </p:txBody>
      </p:sp>
      <p:pic>
        <p:nvPicPr>
          <p:cNvPr id="11" name="Segnaposto contenuto 10" descr="purgatorio.jpg"/>
          <p:cNvPicPr>
            <a:picLocks noGrp="1" noChangeAspect="1"/>
          </p:cNvPicPr>
          <p:nvPr>
            <p:ph idx="1"/>
          </p:nvPr>
        </p:nvPicPr>
        <p:blipFill>
          <a:blip r:embed="rId2"/>
          <a:stretch>
            <a:fillRect/>
          </a:stretch>
        </p:blipFill>
        <p:spPr>
          <a:xfrm>
            <a:off x="6256338" y="1801868"/>
            <a:ext cx="5211762" cy="2943113"/>
          </a:xfrm>
          <a:ln>
            <a:solidFill>
              <a:schemeClr val="accent1"/>
            </a:solidFill>
          </a:ln>
        </p:spPr>
      </p:pic>
      <p:sp>
        <p:nvSpPr>
          <p:cNvPr id="12" name="CasellaDiTesto 11"/>
          <p:cNvSpPr txBox="1"/>
          <p:nvPr/>
        </p:nvSpPr>
        <p:spPr>
          <a:xfrm>
            <a:off x="6270171" y="4757055"/>
            <a:ext cx="5192486" cy="612155"/>
          </a:xfrm>
          <a:prstGeom prst="rect">
            <a:avLst/>
          </a:prstGeom>
          <a:noFill/>
          <a:ln>
            <a:solidFill>
              <a:schemeClr val="accent1"/>
            </a:solidFill>
          </a:ln>
        </p:spPr>
        <p:txBody>
          <a:bodyPr wrap="square" rtlCol="0">
            <a:spAutoFit/>
          </a:bodyPr>
          <a:lstStyle/>
          <a:p>
            <a:pPr>
              <a:lnSpc>
                <a:spcPct val="150000"/>
              </a:lnSpc>
            </a:pPr>
            <a:r>
              <a:rPr lang="it-IT" sz="1200" i="1" dirty="0" smtClean="0"/>
              <a:t>La Navicella del Purgatorio </a:t>
            </a:r>
            <a:r>
              <a:rPr lang="it-IT" sz="1200" dirty="0" smtClean="0"/>
              <a:t>- miniatura dal Purgatorio della Divina Commedia </a:t>
            </a:r>
            <a:r>
              <a:rPr lang="it-IT" sz="1200" dirty="0" err="1" smtClean="0"/>
              <a:t>Egerton</a:t>
            </a:r>
            <a:r>
              <a:rPr lang="it-IT" sz="1200" dirty="0" smtClean="0"/>
              <a:t>, f.65v - Bologna, 1340 ca.</a:t>
            </a:r>
            <a:endParaRPr lang="it-IT" sz="1200" dirty="0"/>
          </a:p>
        </p:txBody>
      </p:sp>
      <p:sp>
        <p:nvSpPr>
          <p:cNvPr id="6" name="CasellaDiTesto 5"/>
          <p:cNvSpPr txBox="1"/>
          <p:nvPr/>
        </p:nvSpPr>
        <p:spPr>
          <a:xfrm>
            <a:off x="0" y="0"/>
            <a:ext cx="5301762" cy="408317"/>
          </a:xfrm>
          <a:prstGeom prst="rect">
            <a:avLst/>
          </a:prstGeom>
          <a:noFill/>
          <a:ln>
            <a:solidFill>
              <a:srgbClr val="C00000"/>
            </a:solidFill>
          </a:ln>
        </p:spPr>
        <p:txBody>
          <a:bodyPr wrap="square" rtlCol="0">
            <a:spAutoFit/>
          </a:bodyPr>
          <a:lstStyle/>
          <a:p>
            <a:pPr lvl="0" defTabSz="914400">
              <a:lnSpc>
                <a:spcPct val="170000"/>
              </a:lnSpc>
            </a:pPr>
            <a:r>
              <a:rPr lang="it-IT" sz="1400" b="1" dirty="0" smtClean="0"/>
              <a:t>Sezione </a:t>
            </a:r>
            <a:r>
              <a:rPr lang="it-IT" sz="1400" b="1" u="sng" cap="small" dirty="0" smtClean="0"/>
              <a:t>Uno storico che ha cambiato la storia, </a:t>
            </a:r>
            <a:r>
              <a:rPr lang="it-IT" sz="1400" b="1" dirty="0" smtClean="0"/>
              <a:t>pp. 92-95</a:t>
            </a:r>
            <a:r>
              <a:rPr lang="it-IT" sz="1400" b="1" u="sng" cap="small" dirty="0" smtClean="0"/>
              <a:t>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32537"/>
            <a:ext cx="5302927" cy="4282464"/>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Connettore 1 3"/>
          <p:cNvCxnSpPr/>
          <p:nvPr/>
        </p:nvCxnSpPr>
        <p:spPr>
          <a:xfrm>
            <a:off x="316523" y="1705708"/>
            <a:ext cx="1274885" cy="879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Connettore 1 8"/>
          <p:cNvCxnSpPr/>
          <p:nvPr/>
        </p:nvCxnSpPr>
        <p:spPr>
          <a:xfrm>
            <a:off x="1433146" y="1858108"/>
            <a:ext cx="372647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Connettore 1 12"/>
          <p:cNvCxnSpPr/>
          <p:nvPr/>
        </p:nvCxnSpPr>
        <p:spPr>
          <a:xfrm>
            <a:off x="82062" y="2060331"/>
            <a:ext cx="385689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Connettore 1 14"/>
          <p:cNvCxnSpPr/>
          <p:nvPr/>
        </p:nvCxnSpPr>
        <p:spPr>
          <a:xfrm>
            <a:off x="1340827" y="2227385"/>
            <a:ext cx="3818793"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Connettore 1 16"/>
          <p:cNvCxnSpPr/>
          <p:nvPr/>
        </p:nvCxnSpPr>
        <p:spPr>
          <a:xfrm>
            <a:off x="918796" y="2420816"/>
            <a:ext cx="302015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Connettore 1 18"/>
          <p:cNvCxnSpPr/>
          <p:nvPr/>
        </p:nvCxnSpPr>
        <p:spPr>
          <a:xfrm>
            <a:off x="316522" y="3440724"/>
            <a:ext cx="4843098" cy="879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Connettore 1 20"/>
          <p:cNvCxnSpPr/>
          <p:nvPr/>
        </p:nvCxnSpPr>
        <p:spPr>
          <a:xfrm>
            <a:off x="79132" y="3601916"/>
            <a:ext cx="5080488" cy="439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Connettore 1 22"/>
          <p:cNvCxnSpPr/>
          <p:nvPr/>
        </p:nvCxnSpPr>
        <p:spPr>
          <a:xfrm>
            <a:off x="0" y="3786555"/>
            <a:ext cx="439615" cy="879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Connettore 1 24"/>
          <p:cNvCxnSpPr/>
          <p:nvPr/>
        </p:nvCxnSpPr>
        <p:spPr>
          <a:xfrm>
            <a:off x="197827" y="4472355"/>
            <a:ext cx="4843098" cy="879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Connettore 1 25"/>
          <p:cNvCxnSpPr/>
          <p:nvPr/>
        </p:nvCxnSpPr>
        <p:spPr>
          <a:xfrm>
            <a:off x="84995" y="4991101"/>
            <a:ext cx="495593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Connettore 1 27"/>
          <p:cNvCxnSpPr/>
          <p:nvPr/>
        </p:nvCxnSpPr>
        <p:spPr>
          <a:xfrm>
            <a:off x="90857" y="5184532"/>
            <a:ext cx="5068763" cy="879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Connettore 1 29"/>
          <p:cNvCxnSpPr/>
          <p:nvPr/>
        </p:nvCxnSpPr>
        <p:spPr>
          <a:xfrm>
            <a:off x="141411" y="5369210"/>
            <a:ext cx="4843098" cy="879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Connettore 1 30"/>
          <p:cNvCxnSpPr/>
          <p:nvPr/>
        </p:nvCxnSpPr>
        <p:spPr>
          <a:xfrm>
            <a:off x="219807" y="5492262"/>
            <a:ext cx="2343153"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1703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p:cNvSpPr>
            <a:spLocks noGrp="1"/>
          </p:cNvSpPr>
          <p:nvPr>
            <p:ph type="body" idx="1"/>
          </p:nvPr>
        </p:nvSpPr>
        <p:spPr>
          <a:xfrm>
            <a:off x="765025" y="3298371"/>
            <a:ext cx="9612971" cy="2460172"/>
          </a:xfrm>
        </p:spPr>
        <p:txBody>
          <a:bodyPr>
            <a:normAutofit/>
          </a:bodyPr>
          <a:lstStyle/>
          <a:p>
            <a:pPr>
              <a:lnSpc>
                <a:spcPct val="150000"/>
              </a:lnSpc>
            </a:pPr>
            <a:r>
              <a:rPr lang="fr-FR" sz="1800" dirty="0" smtClean="0"/>
              <a:t>1. </a:t>
            </a:r>
            <a:r>
              <a:rPr lang="fr-FR" sz="1800" dirty="0"/>
              <a:t>L</a:t>
            </a:r>
            <a:r>
              <a:rPr lang="fr-FR" sz="1800" dirty="0" smtClean="0"/>
              <a:t>’appel à la première croisades</a:t>
            </a:r>
          </a:p>
          <a:p>
            <a:pPr>
              <a:lnSpc>
                <a:spcPct val="150000"/>
              </a:lnSpc>
            </a:pPr>
            <a:r>
              <a:rPr lang="fr-FR" sz="1800" dirty="0" smtClean="0"/>
              <a:t>2. La violence et ses raisons </a:t>
            </a:r>
          </a:p>
          <a:p>
            <a:pPr marL="342900" indent="-342900">
              <a:lnSpc>
                <a:spcPct val="150000"/>
              </a:lnSpc>
              <a:buAutoNum type="arabicPeriod" startAt="3"/>
            </a:pPr>
            <a:r>
              <a:rPr lang="fr-FR" sz="1800" dirty="0" smtClean="0"/>
              <a:t>Le djihad</a:t>
            </a:r>
          </a:p>
          <a:p>
            <a:pPr marL="342900" indent="-342900">
              <a:lnSpc>
                <a:spcPct val="150000"/>
              </a:lnSpc>
              <a:buAutoNum type="arabicPeriod" startAt="3"/>
            </a:pPr>
            <a:r>
              <a:rPr lang="fr-FR" sz="1800" dirty="0" smtClean="0"/>
              <a:t>La vision de l’Autre</a:t>
            </a:r>
          </a:p>
          <a:p>
            <a:pPr marL="342900" indent="-342900">
              <a:lnSpc>
                <a:spcPct val="150000"/>
              </a:lnSpc>
              <a:buAutoNum type="arabicPeriod" startAt="3"/>
            </a:pPr>
            <a:r>
              <a:rPr lang="fr-FR" sz="1800" dirty="0" smtClean="0"/>
              <a:t>En guise de conclusion: quel bilan des croisades?</a:t>
            </a:r>
          </a:p>
          <a:p>
            <a:pPr marL="342900" indent="-342900">
              <a:lnSpc>
                <a:spcPct val="150000"/>
              </a:lnSpc>
            </a:pPr>
            <a:endParaRPr lang="it-IT" sz="1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fr-FR" sz="2400" dirty="0" smtClean="0"/>
              <a:t>1. Le lancement de la première croisade</a:t>
            </a:r>
            <a:endParaRPr lang="fr-FR" sz="2400" dirty="0"/>
          </a:p>
        </p:txBody>
      </p:sp>
      <p:sp>
        <p:nvSpPr>
          <p:cNvPr id="4" name="Segnaposto testo 3"/>
          <p:cNvSpPr>
            <a:spLocks noGrp="1"/>
          </p:cNvSpPr>
          <p:nvPr>
            <p:ph type="body" idx="1"/>
          </p:nvPr>
        </p:nvSpPr>
        <p:spPr>
          <a:xfrm>
            <a:off x="765025" y="4216327"/>
            <a:ext cx="9612971" cy="1542215"/>
          </a:xfrm>
        </p:spPr>
        <p:txBody>
          <a:bodyPr>
            <a:normAutofit lnSpcReduction="10000"/>
          </a:bodyPr>
          <a:lstStyle/>
          <a:p>
            <a:pPr>
              <a:lnSpc>
                <a:spcPct val="150000"/>
              </a:lnSpc>
            </a:pPr>
            <a:r>
              <a:rPr lang="fr-FR" sz="1600" dirty="0" smtClean="0"/>
              <a:t>Quels sont les éléments qui montrent que la croisade est une entreprise religieuse ?</a:t>
            </a:r>
          </a:p>
          <a:p>
            <a:pPr>
              <a:lnSpc>
                <a:spcPct val="150000"/>
              </a:lnSpc>
            </a:pPr>
            <a:r>
              <a:rPr lang="fr-FR" sz="1600" dirty="0" smtClean="0"/>
              <a:t>En quoi la croisade est un pèlerinage?</a:t>
            </a:r>
          </a:p>
          <a:p>
            <a:pPr>
              <a:lnSpc>
                <a:spcPct val="150000"/>
              </a:lnSpc>
            </a:pPr>
            <a:r>
              <a:rPr lang="fr-FR" sz="1600" dirty="0" smtClean="0"/>
              <a:t>En quoi le récit des souffrances des chrétiens correspond-il au contenu du message pontifical et à l'idéologie du pèlerinage pénitentiel ?</a:t>
            </a:r>
            <a:endParaRPr lang="it-IT"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p:cNvSpPr>
            <a:spLocks noGrp="1"/>
          </p:cNvSpPr>
          <p:nvPr>
            <p:ph type="title"/>
          </p:nvPr>
        </p:nvSpPr>
        <p:spPr>
          <a:xfrm>
            <a:off x="718456" y="0"/>
            <a:ext cx="7500257" cy="500743"/>
          </a:xfrm>
        </p:spPr>
        <p:txBody>
          <a:bodyPr>
            <a:normAutofit/>
          </a:bodyPr>
          <a:lstStyle/>
          <a:p>
            <a:pPr>
              <a:lnSpc>
                <a:spcPct val="150000"/>
              </a:lnSpc>
            </a:pPr>
            <a:r>
              <a:rPr lang="fr-FR" sz="1600" b="1" dirty="0" smtClean="0">
                <a:solidFill>
                  <a:srgbClr val="C00000"/>
                </a:solidFill>
              </a:rPr>
              <a:t>27 novembre 1095: </a:t>
            </a:r>
            <a:r>
              <a:rPr lang="fr-FR" sz="1600" b="1" i="1" dirty="0" smtClean="0"/>
              <a:t>L’appel à la Croisade </a:t>
            </a:r>
            <a:r>
              <a:rPr lang="fr-FR" sz="1600" b="1" dirty="0" smtClean="0"/>
              <a:t>de Urbain II	</a:t>
            </a:r>
            <a:endParaRPr lang="fr-FR" sz="1600" b="1" i="1" dirty="0" smtClean="0">
              <a:solidFill>
                <a:srgbClr val="C00000"/>
              </a:solidFill>
            </a:endParaRPr>
          </a:p>
        </p:txBody>
      </p:sp>
      <p:sp>
        <p:nvSpPr>
          <p:cNvPr id="7" name="Segnaposto contenuto 6"/>
          <p:cNvSpPr>
            <a:spLocks noGrp="1"/>
          </p:cNvSpPr>
          <p:nvPr>
            <p:ph sz="half" idx="1"/>
          </p:nvPr>
        </p:nvSpPr>
        <p:spPr>
          <a:xfrm>
            <a:off x="1371599" y="751115"/>
            <a:ext cx="4833257" cy="5682342"/>
          </a:xfrm>
        </p:spPr>
        <p:txBody>
          <a:bodyPr>
            <a:noAutofit/>
          </a:bodyPr>
          <a:lstStyle/>
          <a:p>
            <a:pPr>
              <a:lnSpc>
                <a:spcPct val="150000"/>
              </a:lnSpc>
              <a:spcBef>
                <a:spcPts val="0"/>
              </a:spcBef>
              <a:spcAft>
                <a:spcPts val="0"/>
              </a:spcAft>
              <a:buNone/>
            </a:pPr>
            <a:r>
              <a:rPr lang="fr-FR" sz="1200" dirty="0" smtClean="0"/>
              <a:t>	</a:t>
            </a:r>
            <a:r>
              <a:rPr lang="fr-FR" sz="1200" i="1" dirty="0" smtClean="0"/>
              <a:t>Ô fils de Dieu ! [….] vous allez pouvoir recevoir votre récompense en appliquant votre vaillance à une autre tâche. C'est une affaire qui concerne Dieu et qui vous regarde vous-mêmes […] Il importe que, sans tarder, vous vous portiez au secours de vos frères qui habitent les pays d'Orient et qui déjà bien souvent ont réclamé votre aide. […] Ces Turcs détruisent les églises ; ils saccagent le royaume de Dieu.</a:t>
            </a:r>
          </a:p>
          <a:p>
            <a:pPr>
              <a:lnSpc>
                <a:spcPct val="150000"/>
              </a:lnSpc>
              <a:spcBef>
                <a:spcPts val="0"/>
              </a:spcBef>
              <a:spcAft>
                <a:spcPts val="0"/>
              </a:spcAft>
              <a:buNone/>
            </a:pPr>
            <a:r>
              <a:rPr lang="fr-FR" sz="1200" i="1" dirty="0" smtClean="0"/>
              <a:t>	Aussi je vous exhorte et je vous supplie – et ce n'est pas moi qui vous y exhorte, c'est le Seigneur lui-même – vous, les hérauts du Christ , à persuader à tous, à quelque classe de la société qu'ils appartiennent, chevaliers ou piétons, riches ou pauvres, par vos fréquentes prédications, de se rendre à temps au secours des chrétiens et de repousser ce peuple néfaste loin de nos territoires.[…]</a:t>
            </a:r>
          </a:p>
          <a:p>
            <a:pPr>
              <a:lnSpc>
                <a:spcPct val="150000"/>
              </a:lnSpc>
              <a:spcBef>
                <a:spcPts val="0"/>
              </a:spcBef>
              <a:spcAft>
                <a:spcPts val="0"/>
              </a:spcAft>
              <a:buNone/>
            </a:pPr>
            <a:r>
              <a:rPr lang="fr-FR" sz="1200" i="1" dirty="0" smtClean="0"/>
              <a:t>	À tous ceux qui y partiront et qui mourront en route, que ce soit sur terre ou sur mer, ou qui perdront la vie en combattant les païens, la rémission de leurs péchés sera accordée. Et je l'accorde à ceux qui participeront à ce voyage, en vertu de l'autorité que je tiens de Dieu</a:t>
            </a:r>
            <a:r>
              <a:rPr lang="fr-FR" sz="1200" dirty="0" smtClean="0"/>
              <a:t>.</a:t>
            </a:r>
            <a:endParaRPr lang="fr-FR" sz="1200" dirty="0"/>
          </a:p>
        </p:txBody>
      </p:sp>
      <p:sp>
        <p:nvSpPr>
          <p:cNvPr id="9" name="Segnaposto contenuto 7"/>
          <p:cNvSpPr>
            <a:spLocks noGrp="1"/>
          </p:cNvSpPr>
          <p:nvPr>
            <p:ph sz="half" idx="1"/>
          </p:nvPr>
        </p:nvSpPr>
        <p:spPr>
          <a:xfrm>
            <a:off x="7032171" y="838200"/>
            <a:ext cx="4447786" cy="5007429"/>
          </a:xfrm>
        </p:spPr>
        <p:txBody>
          <a:bodyPr>
            <a:normAutofit/>
          </a:bodyPr>
          <a:lstStyle/>
          <a:p>
            <a:pPr>
              <a:lnSpc>
                <a:spcPct val="160000"/>
              </a:lnSpc>
            </a:pPr>
            <a:r>
              <a:rPr lang="fr-FR" sz="1200" b="1" dirty="0" smtClean="0">
                <a:solidFill>
                  <a:srgbClr val="C00000"/>
                </a:solidFill>
              </a:rPr>
              <a:t>Le 27 novembre 1095</a:t>
            </a:r>
            <a:r>
              <a:rPr lang="fr-FR" sz="1200" dirty="0" smtClean="0"/>
              <a:t>, à l'issue du concile de Clermont</a:t>
            </a:r>
            <a:r>
              <a:rPr lang="fr-FR" sz="1200" b="1" dirty="0" smtClean="0"/>
              <a:t>, le pape s'adresse aux évêques</a:t>
            </a:r>
            <a:r>
              <a:rPr lang="fr-FR" sz="1200" dirty="0" smtClean="0"/>
              <a:t>, pour demander d'aller </a:t>
            </a:r>
            <a:r>
              <a:rPr lang="fr-FR" sz="1200" b="1" dirty="0" smtClean="0"/>
              <a:t>au secours des chrétiens orientaux.</a:t>
            </a:r>
            <a:r>
              <a:rPr lang="fr-FR" sz="1200" dirty="0" smtClean="0"/>
              <a:t> Cet </a:t>
            </a:r>
            <a:r>
              <a:rPr lang="fr-FR" sz="1200" b="1" dirty="0" smtClean="0"/>
              <a:t>appel</a:t>
            </a:r>
            <a:r>
              <a:rPr lang="fr-FR" sz="1200" dirty="0" smtClean="0"/>
              <a:t> a été </a:t>
            </a:r>
            <a:r>
              <a:rPr lang="fr-FR" sz="1200" b="1" dirty="0" smtClean="0"/>
              <a:t>retranscrit</a:t>
            </a:r>
            <a:r>
              <a:rPr lang="fr-FR" sz="1200" dirty="0" smtClean="0"/>
              <a:t>, plusieurs années après, </a:t>
            </a:r>
            <a:r>
              <a:rPr lang="fr-FR" sz="1200" b="1" dirty="0" smtClean="0"/>
              <a:t>par </a:t>
            </a:r>
            <a:r>
              <a:rPr lang="fr-FR" sz="1200" b="1" dirty="0" smtClean="0">
                <a:solidFill>
                  <a:srgbClr val="C00000"/>
                </a:solidFill>
              </a:rPr>
              <a:t>Foucher de Chartres</a:t>
            </a:r>
            <a:r>
              <a:rPr lang="fr-FR" sz="1200" dirty="0" smtClean="0"/>
              <a:t>, sans doute témoin de l'homélie</a:t>
            </a:r>
          </a:p>
          <a:p>
            <a:pPr>
              <a:lnSpc>
                <a:spcPct val="160000"/>
              </a:lnSpc>
            </a:pPr>
            <a:r>
              <a:rPr lang="fr-FR" sz="1200" dirty="0" smtClean="0"/>
              <a:t>Présent en Terre sainte en 1096, </a:t>
            </a:r>
            <a:r>
              <a:rPr lang="fr-FR" sz="1200" b="1" dirty="0" smtClean="0"/>
              <a:t>Foucher de Chartres </a:t>
            </a:r>
            <a:r>
              <a:rPr lang="fr-FR" sz="1200" dirty="0" smtClean="0"/>
              <a:t>est devenu le chapelain de Baudouin de Boulogne avant de mourir à Jérusalem en 1127. </a:t>
            </a:r>
            <a:r>
              <a:rPr lang="fr-FR" sz="1200" b="1" dirty="0" smtClean="0"/>
              <a:t>De 1100 à 1127, il a rédigé un récit de la première croisade,</a:t>
            </a:r>
            <a:r>
              <a:rPr lang="fr-FR" sz="1200" dirty="0" smtClean="0"/>
              <a:t> </a:t>
            </a:r>
            <a:r>
              <a:rPr lang="fr-FR" sz="1200" i="1" dirty="0" smtClean="0"/>
              <a:t>Historia </a:t>
            </a:r>
            <a:r>
              <a:rPr lang="fr-FR" sz="1200" i="1" dirty="0" err="1" smtClean="0"/>
              <a:t>Hierosolymitana</a:t>
            </a:r>
            <a:r>
              <a:rPr lang="fr-FR" sz="1200" dirty="0" smtClean="0"/>
              <a:t>, </a:t>
            </a:r>
            <a:r>
              <a:rPr lang="fr-FR" sz="1200" b="1" dirty="0" smtClean="0"/>
              <a:t>pour inciter les chevaliers occidentaux à se croiser.</a:t>
            </a:r>
            <a:r>
              <a:rPr lang="fr-FR" sz="1200" dirty="0" smtClean="0"/>
              <a:t> </a:t>
            </a:r>
          </a:p>
          <a:p>
            <a:pPr>
              <a:lnSpc>
                <a:spcPct val="160000"/>
              </a:lnSpc>
            </a:pPr>
            <a:r>
              <a:rPr lang="fr-FR" sz="1200" dirty="0" smtClean="0"/>
              <a:t>La croisade est conçue comme un</a:t>
            </a:r>
            <a:r>
              <a:rPr lang="fr-FR" sz="1200" dirty="0" smtClean="0">
                <a:solidFill>
                  <a:srgbClr val="C00000"/>
                </a:solidFill>
              </a:rPr>
              <a:t> </a:t>
            </a:r>
            <a:r>
              <a:rPr lang="fr-FR" sz="1200" b="1" dirty="0" smtClean="0">
                <a:solidFill>
                  <a:srgbClr val="C00000"/>
                </a:solidFill>
              </a:rPr>
              <a:t>pèlerinage pénitentiel </a:t>
            </a:r>
            <a:r>
              <a:rPr lang="fr-FR" sz="1200" b="1" dirty="0" smtClean="0"/>
              <a:t>pour racheter les chrétiens désunis</a:t>
            </a:r>
            <a:r>
              <a:rPr lang="fr-FR" sz="1200" dirty="0" smtClean="0"/>
              <a:t>, mais aussi comme </a:t>
            </a:r>
            <a:r>
              <a:rPr lang="fr-FR" sz="1200" b="1" dirty="0" smtClean="0"/>
              <a:t>un moyen de détourner la violence des chevaliers vers une lutte contre les "païens".</a:t>
            </a:r>
          </a:p>
          <a:p>
            <a:pPr>
              <a:lnSpc>
                <a:spcPct val="160000"/>
              </a:lnSpc>
            </a:pPr>
            <a:endParaRPr lang="fr-FR" sz="12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testo 3"/>
          <p:cNvSpPr>
            <a:spLocks noGrp="1"/>
          </p:cNvSpPr>
          <p:nvPr>
            <p:ph type="body" sz="half" idx="2"/>
          </p:nvPr>
        </p:nvSpPr>
        <p:spPr>
          <a:xfrm>
            <a:off x="587827" y="500742"/>
            <a:ext cx="4201886" cy="5856515"/>
          </a:xfrm>
        </p:spPr>
        <p:txBody>
          <a:bodyPr anchor="ctr">
            <a:noAutofit/>
          </a:bodyPr>
          <a:lstStyle/>
          <a:p>
            <a:pPr marL="228600" indent="-228600">
              <a:lnSpc>
                <a:spcPct val="170000"/>
              </a:lnSpc>
              <a:spcAft>
                <a:spcPts val="0"/>
              </a:spcAft>
            </a:pPr>
            <a:r>
              <a:rPr lang="fr-FR" sz="1300" dirty="0" smtClean="0"/>
              <a:t>	</a:t>
            </a:r>
            <a:r>
              <a:rPr lang="fr-FR" sz="1300" b="1" i="1" dirty="0" smtClean="0"/>
              <a:t>Les Passages d'outremer </a:t>
            </a:r>
            <a:r>
              <a:rPr lang="fr-FR" sz="1300" b="1" dirty="0" smtClean="0"/>
              <a:t>présentent une compilation, en partie légendaire, sur les croisades. </a:t>
            </a:r>
            <a:r>
              <a:rPr lang="fr-FR" sz="1300" dirty="0" smtClean="0"/>
              <a:t>L'intérêt pour la Terre sainte n'a jamais faibli durant tout le Moyen Âge, notamment dans la seconde moitié du XVe siècle où fleurissent des projets de reconquête. Des projets d'autant plus nombreux que celle-ci s'avère de moins en moins possible. </a:t>
            </a:r>
            <a:r>
              <a:rPr lang="fr-FR" sz="1300" b="1" dirty="0" smtClean="0"/>
              <a:t>Urbain II préside ici le concile de Clermont lors duquel il prêche la croisade, le 27 novembre 1095</a:t>
            </a:r>
            <a:r>
              <a:rPr lang="fr-FR" sz="1300" dirty="0" smtClean="0"/>
              <a:t>. Le pape, qui avait gardé secret son projet, demande alors aux chrétiens de s'unir sous la bannière de l'église pour aller délivrer les Lieux saints. Non sans arrière-pensées politiques puisqu'</a:t>
            </a:r>
            <a:r>
              <a:rPr lang="fr-FR" sz="1300" b="1" dirty="0" smtClean="0"/>
              <a:t>il entend bien renforcer ainsi son pouvoir sur une chrétienté éclatée. </a:t>
            </a:r>
            <a:endParaRPr lang="fr-FR" sz="1300" b="1" dirty="0"/>
          </a:p>
        </p:txBody>
      </p:sp>
      <p:pic>
        <p:nvPicPr>
          <p:cNvPr id="9" name="Segnaposto contenuto 8" descr="pape urbain concile clermont.jpg"/>
          <p:cNvPicPr>
            <a:picLocks noGrp="1" noChangeAspect="1"/>
          </p:cNvPicPr>
          <p:nvPr>
            <p:ph idx="1"/>
          </p:nvPr>
        </p:nvPicPr>
        <p:blipFill>
          <a:blip r:embed="rId2"/>
          <a:stretch>
            <a:fillRect/>
          </a:stretch>
        </p:blipFill>
        <p:spPr>
          <a:xfrm>
            <a:off x="7115572" y="348343"/>
            <a:ext cx="3493294" cy="5175250"/>
          </a:xfrm>
        </p:spPr>
      </p:pic>
      <p:sp>
        <p:nvSpPr>
          <p:cNvPr id="10" name="CasellaDiTesto 9"/>
          <p:cNvSpPr txBox="1"/>
          <p:nvPr/>
        </p:nvSpPr>
        <p:spPr>
          <a:xfrm>
            <a:off x="6792686" y="5496089"/>
            <a:ext cx="4386943" cy="1361911"/>
          </a:xfrm>
          <a:prstGeom prst="rect">
            <a:avLst/>
          </a:prstGeom>
          <a:noFill/>
        </p:spPr>
        <p:txBody>
          <a:bodyPr wrap="square" rtlCol="0">
            <a:spAutoFit/>
          </a:bodyPr>
          <a:lstStyle/>
          <a:p>
            <a:pPr>
              <a:lnSpc>
                <a:spcPct val="150000"/>
              </a:lnSpc>
            </a:pPr>
            <a:r>
              <a:rPr lang="fr-FR" sz="1100" b="1" dirty="0" smtClean="0"/>
              <a:t>I</a:t>
            </a:r>
            <a:r>
              <a:rPr lang="fr-FR" sz="1100" b="1" baseline="30000" dirty="0" smtClean="0"/>
              <a:t>re</a:t>
            </a:r>
            <a:r>
              <a:rPr lang="fr-FR" sz="1100" b="1" dirty="0" smtClean="0"/>
              <a:t> croisade : Le pape Urbain II préside le concile de Clermont</a:t>
            </a:r>
          </a:p>
          <a:p>
            <a:pPr>
              <a:lnSpc>
                <a:spcPct val="150000"/>
              </a:lnSpc>
            </a:pPr>
            <a:r>
              <a:rPr lang="fr-FR" sz="1100" dirty="0" smtClean="0"/>
              <a:t>Sébastien </a:t>
            </a:r>
            <a:r>
              <a:rPr lang="fr-FR" sz="1100" dirty="0" err="1" smtClean="0"/>
              <a:t>Mamerot</a:t>
            </a:r>
            <a:r>
              <a:rPr lang="fr-FR" sz="1100" dirty="0" smtClean="0"/>
              <a:t>, </a:t>
            </a:r>
            <a:r>
              <a:rPr lang="fr-FR" sz="1100" b="1" i="1" dirty="0" smtClean="0"/>
              <a:t>Les Passages d'outremer faits par les Français contre les Turcs depuis Charlemagne jusqu'en 1462</a:t>
            </a:r>
            <a:r>
              <a:rPr lang="fr-FR" sz="1100" dirty="0" smtClean="0"/>
              <a:t>. Manuscrit enluminé sur parchemin, Bourges, Jean Colombe, 1474-1475. </a:t>
            </a:r>
            <a:r>
              <a:rPr lang="fr-FR" sz="1100" dirty="0" err="1" smtClean="0"/>
              <a:t>BnF</a:t>
            </a:r>
            <a:r>
              <a:rPr lang="fr-FR" sz="1100" dirty="0" smtClean="0"/>
              <a:t>, Manuscrits (Fr 5594 fol. 19) </a:t>
            </a:r>
            <a:endParaRPr lang="it-IT" sz="1100" dirty="0"/>
          </a:p>
        </p:txBody>
      </p:sp>
      <p:sp>
        <p:nvSpPr>
          <p:cNvPr id="11" name="CasellaDiTesto 10"/>
          <p:cNvSpPr txBox="1"/>
          <p:nvPr/>
        </p:nvSpPr>
        <p:spPr>
          <a:xfrm>
            <a:off x="0" y="152400"/>
            <a:ext cx="5301343" cy="369332"/>
          </a:xfrm>
          <a:prstGeom prst="rect">
            <a:avLst/>
          </a:prstGeom>
          <a:noFill/>
        </p:spPr>
        <p:txBody>
          <a:bodyPr wrap="square" rtlCol="0">
            <a:spAutoFit/>
          </a:bodyPr>
          <a:lstStyle/>
          <a:p>
            <a:r>
              <a:rPr lang="fr-FR" dirty="0" smtClean="0"/>
              <a:t>Le pape </a:t>
            </a:r>
            <a:r>
              <a:rPr lang="fr-FR" dirty="0" smtClean="0">
                <a:solidFill>
                  <a:srgbClr val="C00000"/>
                </a:solidFill>
              </a:rPr>
              <a:t>Urbain II préside le concile </a:t>
            </a:r>
            <a:r>
              <a:rPr lang="fr-FR" dirty="0" smtClean="0"/>
              <a:t>de Clermont</a:t>
            </a:r>
            <a:endParaRPr lang="it-IT"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testo 3"/>
          <p:cNvSpPr>
            <a:spLocks noGrp="1"/>
          </p:cNvSpPr>
          <p:nvPr>
            <p:ph type="body" sz="half" idx="2"/>
          </p:nvPr>
        </p:nvSpPr>
        <p:spPr>
          <a:xfrm>
            <a:off x="587827" y="620486"/>
            <a:ext cx="4201886" cy="5987143"/>
          </a:xfrm>
        </p:spPr>
        <p:txBody>
          <a:bodyPr anchor="ctr">
            <a:noAutofit/>
          </a:bodyPr>
          <a:lstStyle/>
          <a:p>
            <a:pPr marL="228600" indent="-228600">
              <a:lnSpc>
                <a:spcPct val="170000"/>
              </a:lnSpc>
              <a:spcAft>
                <a:spcPts val="0"/>
              </a:spcAft>
            </a:pPr>
            <a:r>
              <a:rPr lang="fr-FR" sz="1200" dirty="0" smtClean="0"/>
              <a:t>	 	</a:t>
            </a:r>
            <a:r>
              <a:rPr lang="fr-FR" sz="1200" b="1" dirty="0" smtClean="0"/>
              <a:t>Pierre l'Ermite</a:t>
            </a:r>
            <a:r>
              <a:rPr lang="fr-FR" sz="1200" dirty="0" smtClean="0"/>
              <a:t>, originaire des environs d'Amiens, </a:t>
            </a:r>
            <a:r>
              <a:rPr lang="fr-FR" sz="1200" b="1" dirty="0" smtClean="0"/>
              <a:t>est le principal prédicateur de la première croisade. </a:t>
            </a:r>
            <a:r>
              <a:rPr lang="fr-FR" sz="1200" dirty="0" smtClean="0"/>
              <a:t>En 1095, il se serait rendu en pèlerinage à Jérusalem d'où il serait revenu avec une lettre de Dieu ordonnant aux chrétiens de venir au secours de leurs coreligionnaires d'Orient</a:t>
            </a:r>
            <a:r>
              <a:rPr lang="fr-FR" sz="1200" b="1" dirty="0" smtClean="0"/>
              <a:t>. Il aurait alors rencontré le pape, avant le concile de Clermont, et commencé à prêcher le pèlerinage aux Lieux saints</a:t>
            </a:r>
            <a:r>
              <a:rPr lang="fr-FR" sz="1200" dirty="0" smtClean="0"/>
              <a:t>. C'est un </a:t>
            </a:r>
            <a:r>
              <a:rPr lang="fr-FR" sz="1200" b="1" dirty="0" smtClean="0"/>
              <a:t>orateur éloquent  qui réussit à rassembler </a:t>
            </a:r>
            <a:r>
              <a:rPr lang="fr-FR" sz="1200" dirty="0" smtClean="0"/>
              <a:t>dans leurs aspirations salvatrices </a:t>
            </a:r>
            <a:r>
              <a:rPr lang="fr-FR" sz="1200" b="1" dirty="0" smtClean="0"/>
              <a:t>les éléments populaires de la première croisade en les entraînant vers la Terre sainte </a:t>
            </a:r>
            <a:r>
              <a:rPr lang="fr-FR" sz="1200" dirty="0" smtClean="0"/>
              <a:t>en 1096, mais la plupart mourront avant d'atteindre leur but. </a:t>
            </a:r>
          </a:p>
          <a:p>
            <a:pPr marL="228600" indent="-228600">
              <a:lnSpc>
                <a:spcPct val="170000"/>
              </a:lnSpc>
              <a:spcAft>
                <a:spcPts val="0"/>
              </a:spcAft>
            </a:pPr>
            <a:r>
              <a:rPr lang="fr-FR" sz="1200" dirty="0" smtClean="0"/>
              <a:t>		</a:t>
            </a:r>
            <a:r>
              <a:rPr lang="fr-FR" sz="1200" b="1" dirty="0" smtClean="0"/>
              <a:t>Lors du siège de Jérusalem en 1099, il organise les processions autour de la ville </a:t>
            </a:r>
            <a:r>
              <a:rPr lang="fr-FR" sz="1200" dirty="0" smtClean="0"/>
              <a:t>et inspire les prières d'intercession des clercs et du peuple. On le voit haranguant des croisés en leur montrant d'un geste de la main le but à atteindre, la prise de Jérusalem. La ville prise, il revient en Occident avec des reliques. </a:t>
            </a:r>
            <a:endParaRPr lang="fr-FR" sz="1200" dirty="0"/>
          </a:p>
        </p:txBody>
      </p:sp>
      <p:sp>
        <p:nvSpPr>
          <p:cNvPr id="10" name="CasellaDiTesto 9"/>
          <p:cNvSpPr txBox="1"/>
          <p:nvPr/>
        </p:nvSpPr>
        <p:spPr>
          <a:xfrm>
            <a:off x="6596744" y="4940917"/>
            <a:ext cx="4757056" cy="854080"/>
          </a:xfrm>
          <a:prstGeom prst="rect">
            <a:avLst/>
          </a:prstGeom>
          <a:noFill/>
        </p:spPr>
        <p:txBody>
          <a:bodyPr wrap="square" rtlCol="0">
            <a:spAutoFit/>
          </a:bodyPr>
          <a:lstStyle/>
          <a:p>
            <a:pPr>
              <a:lnSpc>
                <a:spcPct val="150000"/>
              </a:lnSpc>
            </a:pPr>
            <a:r>
              <a:rPr lang="fr-FR" sz="1100" b="1" dirty="0" smtClean="0"/>
              <a:t>Ire croisade : Pierre l'Ermite harangue les croisés devant Jérusalem</a:t>
            </a:r>
          </a:p>
          <a:p>
            <a:pPr>
              <a:lnSpc>
                <a:spcPct val="150000"/>
              </a:lnSpc>
            </a:pPr>
            <a:r>
              <a:rPr lang="fr-FR" sz="1100" b="1" i="1" dirty="0" smtClean="0"/>
              <a:t>Roman du Chevalier du Cygne</a:t>
            </a:r>
            <a:r>
              <a:rPr lang="fr-FR" sz="1100" b="1" dirty="0" smtClean="0"/>
              <a:t>. </a:t>
            </a:r>
            <a:r>
              <a:rPr lang="fr-FR" sz="1100" dirty="0" smtClean="0"/>
              <a:t>Manuscrit enluminé sur parchemin</a:t>
            </a:r>
            <a:r>
              <a:rPr lang="fr-FR" sz="1100" b="1" dirty="0" smtClean="0"/>
              <a:t>. </a:t>
            </a:r>
            <a:r>
              <a:rPr lang="fr-FR" sz="1100" dirty="0" smtClean="0"/>
              <a:t>3e tiers du XIIIe siècle. </a:t>
            </a:r>
            <a:r>
              <a:rPr lang="fr-FR" sz="1100" dirty="0" err="1" smtClean="0"/>
              <a:t>BnF</a:t>
            </a:r>
            <a:r>
              <a:rPr lang="fr-FR" sz="1100" dirty="0" smtClean="0"/>
              <a:t>, Arsenal (Ms 3139 fol. 176v)</a:t>
            </a:r>
            <a:endParaRPr lang="it-IT" sz="1100" dirty="0"/>
          </a:p>
        </p:txBody>
      </p:sp>
      <p:pic>
        <p:nvPicPr>
          <p:cNvPr id="6" name="Segnaposto contenuto 5" descr="p_ermite_harangue_croisee.jpg"/>
          <p:cNvPicPr>
            <a:picLocks noGrp="1" noChangeAspect="1"/>
          </p:cNvPicPr>
          <p:nvPr>
            <p:ph idx="1"/>
          </p:nvPr>
        </p:nvPicPr>
        <p:blipFill>
          <a:blip r:embed="rId2"/>
          <a:stretch>
            <a:fillRect/>
          </a:stretch>
        </p:blipFill>
        <p:spPr>
          <a:xfrm>
            <a:off x="6576219" y="1797050"/>
            <a:ext cx="4572000" cy="2952750"/>
          </a:xfrm>
        </p:spPr>
      </p:pic>
      <p:sp>
        <p:nvSpPr>
          <p:cNvPr id="11" name="Rettangolo 10"/>
          <p:cNvSpPr/>
          <p:nvPr/>
        </p:nvSpPr>
        <p:spPr>
          <a:xfrm>
            <a:off x="0" y="152400"/>
            <a:ext cx="3818674" cy="369332"/>
          </a:xfrm>
          <a:prstGeom prst="rect">
            <a:avLst/>
          </a:prstGeom>
        </p:spPr>
        <p:txBody>
          <a:bodyPr wrap="none">
            <a:spAutoFit/>
          </a:bodyPr>
          <a:lstStyle/>
          <a:p>
            <a:r>
              <a:rPr lang="fr-FR" dirty="0" smtClean="0">
                <a:solidFill>
                  <a:srgbClr val="C00000"/>
                </a:solidFill>
              </a:rPr>
              <a:t>Pierre l'Ermite harangue les croisés</a:t>
            </a:r>
            <a:endParaRPr lang="it-IT" dirty="0">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p:cNvSpPr>
            <a:spLocks noGrp="1"/>
          </p:cNvSpPr>
          <p:nvPr>
            <p:ph type="title"/>
          </p:nvPr>
        </p:nvSpPr>
        <p:spPr>
          <a:xfrm>
            <a:off x="718456" y="0"/>
            <a:ext cx="7500257" cy="500743"/>
          </a:xfrm>
        </p:spPr>
        <p:txBody>
          <a:bodyPr>
            <a:normAutofit/>
          </a:bodyPr>
          <a:lstStyle/>
          <a:p>
            <a:pPr>
              <a:lnSpc>
                <a:spcPct val="150000"/>
              </a:lnSpc>
            </a:pPr>
            <a:r>
              <a:rPr lang="fr-FR" sz="1600" b="1" dirty="0" smtClean="0">
                <a:solidFill>
                  <a:srgbClr val="C00000"/>
                </a:solidFill>
              </a:rPr>
              <a:t> La lettre encyclique de l'archevêque de Pise au pape</a:t>
            </a:r>
            <a:r>
              <a:rPr lang="fr-FR" sz="1600" b="1" dirty="0" smtClean="0"/>
              <a:t>	</a:t>
            </a:r>
            <a:endParaRPr lang="fr-FR" sz="1600" b="1" i="1" dirty="0" smtClean="0">
              <a:solidFill>
                <a:srgbClr val="C00000"/>
              </a:solidFill>
            </a:endParaRPr>
          </a:p>
        </p:txBody>
      </p:sp>
      <p:sp>
        <p:nvSpPr>
          <p:cNvPr id="7" name="Segnaposto contenuto 6"/>
          <p:cNvSpPr>
            <a:spLocks noGrp="1"/>
          </p:cNvSpPr>
          <p:nvPr>
            <p:ph sz="half" idx="1"/>
          </p:nvPr>
        </p:nvSpPr>
        <p:spPr>
          <a:xfrm>
            <a:off x="1371599" y="751115"/>
            <a:ext cx="4833257" cy="5682342"/>
          </a:xfrm>
        </p:spPr>
        <p:txBody>
          <a:bodyPr>
            <a:noAutofit/>
          </a:bodyPr>
          <a:lstStyle/>
          <a:p>
            <a:pPr>
              <a:lnSpc>
                <a:spcPct val="150000"/>
              </a:lnSpc>
              <a:spcBef>
                <a:spcPts val="0"/>
              </a:spcBef>
              <a:spcAft>
                <a:spcPts val="0"/>
              </a:spcAft>
              <a:buNone/>
            </a:pPr>
            <a:r>
              <a:rPr lang="fr-FR" sz="1300" dirty="0" smtClean="0"/>
              <a:t>	</a:t>
            </a:r>
            <a:r>
              <a:rPr lang="fr-FR" sz="1300" i="1" dirty="0" smtClean="0"/>
              <a:t>Ainsi Dieu était notre guide et œuvrait avec nous, et nous sommes arrivés devant Jérusalem. Lors du siège de la Cité, l'armée a beaucoup souffert, surtout du manque d'eau. Nous avons alors tenu un conseil : les évêques et les princes ont fait annoncer qu'on ferait en procession le tour de la ville pieds nus, pour que Celui qui pour nous y fit son entrée en toute humilité, devant notre humilité envers Lui, l'ouvre à nous pour procéder au jugement de ses ennemis. Le Seigneur agréa notre humilité. Huit jours après notre geste d'humiliation, Il nous a livré la cité avec ses ennemis, l'anniversaire même de ce jour où l'Église primitive en fut expulsée et où de nombreux fidèles célèbrent la fête de la Dispersion des Apôtres. Et si vous voulez savoir ce qu'on fit des ennemis qu'on trouva ici, sachez que, sous le portique de Salomon et dans son Temple, les nôtres chevauchaient dans le sang des Sarrasins jusqu'aux genoux des chevaux…</a:t>
            </a:r>
            <a:endParaRPr lang="fr-FR" sz="1300" dirty="0"/>
          </a:p>
        </p:txBody>
      </p:sp>
      <p:pic>
        <p:nvPicPr>
          <p:cNvPr id="5" name="Segnaposto contenuto 4" descr="siege jerus.jpg"/>
          <p:cNvPicPr>
            <a:picLocks noGrp="1" noChangeAspect="1"/>
          </p:cNvPicPr>
          <p:nvPr>
            <p:ph sz="half" idx="1"/>
          </p:nvPr>
        </p:nvPicPr>
        <p:blipFill>
          <a:blip r:embed="rId2"/>
          <a:stretch>
            <a:fillRect/>
          </a:stretch>
        </p:blipFill>
        <p:spPr>
          <a:xfrm>
            <a:off x="6923768" y="2324133"/>
            <a:ext cx="4446588" cy="3733281"/>
          </a:xfrm>
        </p:spPr>
      </p:pic>
      <p:sp>
        <p:nvSpPr>
          <p:cNvPr id="8" name="CasellaDiTesto 7"/>
          <p:cNvSpPr txBox="1"/>
          <p:nvPr/>
        </p:nvSpPr>
        <p:spPr>
          <a:xfrm>
            <a:off x="6694714" y="6003920"/>
            <a:ext cx="4942114" cy="854080"/>
          </a:xfrm>
          <a:prstGeom prst="rect">
            <a:avLst/>
          </a:prstGeom>
          <a:noFill/>
        </p:spPr>
        <p:txBody>
          <a:bodyPr wrap="square" rtlCol="0">
            <a:spAutoFit/>
          </a:bodyPr>
          <a:lstStyle/>
          <a:p>
            <a:pPr>
              <a:lnSpc>
                <a:spcPct val="150000"/>
              </a:lnSpc>
            </a:pPr>
            <a:r>
              <a:rPr lang="fr-FR" sz="1100" b="1" dirty="0" smtClean="0"/>
              <a:t>Ire croisade : siège de Jérusalem</a:t>
            </a:r>
          </a:p>
          <a:p>
            <a:pPr>
              <a:lnSpc>
                <a:spcPct val="150000"/>
              </a:lnSpc>
            </a:pPr>
            <a:r>
              <a:rPr lang="fr-FR" sz="1100" i="1" dirty="0" smtClean="0"/>
              <a:t>Roman de Godefroi de Bouillon et de Saladin</a:t>
            </a:r>
            <a:r>
              <a:rPr lang="fr-FR" sz="1100" dirty="0" smtClean="0"/>
              <a:t>. Manuscrit enluminé sur parchemin, Paris, 1337. </a:t>
            </a:r>
            <a:r>
              <a:rPr lang="fr-FR" sz="1100" dirty="0" err="1" smtClean="0"/>
              <a:t>BnF</a:t>
            </a:r>
            <a:r>
              <a:rPr lang="fr-FR" sz="1100" dirty="0" smtClean="0"/>
              <a:t>, Manuscrits (Fr 22495 fol. 69v) </a:t>
            </a:r>
            <a:endParaRPr lang="it-IT" sz="1100" dirty="0"/>
          </a:p>
        </p:txBody>
      </p:sp>
      <p:sp>
        <p:nvSpPr>
          <p:cNvPr id="10" name="CasellaDiTesto 9"/>
          <p:cNvSpPr txBox="1"/>
          <p:nvPr/>
        </p:nvSpPr>
        <p:spPr>
          <a:xfrm>
            <a:off x="6651171" y="130629"/>
            <a:ext cx="5366658" cy="2123658"/>
          </a:xfrm>
          <a:prstGeom prst="rect">
            <a:avLst/>
          </a:prstGeom>
          <a:noFill/>
        </p:spPr>
        <p:txBody>
          <a:bodyPr wrap="square" rtlCol="0">
            <a:spAutoFit/>
          </a:bodyPr>
          <a:lstStyle/>
          <a:p>
            <a:pPr>
              <a:lnSpc>
                <a:spcPct val="150000"/>
              </a:lnSpc>
            </a:pPr>
            <a:r>
              <a:rPr lang="fr-FR" sz="1100" dirty="0" smtClean="0"/>
              <a:t>L'assaut de Jérusalem est donné après des jours de jeûne et des processions conduites par le clergé. Les Francs, manquant de vivres et de matériaux, doivent attendre de se procurer du bois pour construire des échelles et des tours mobiles afin d'attaquer la muraille de la ville, tandis que celle représentée sur l'image est en pierre. Sur la gauche, un clerc encourage les croisés à prendre possession de Jérusalem. En haut, un chevalier franc, inconnu, se tient sur le mont des Oliviers, lieu symbolique pour les chrétiens. On reconnaît Godefroi de Bouillon, roi de Jérusalem, avec le titre d' "avoué du Saint-Sépulcre", dans la tour.</a:t>
            </a:r>
            <a:endParaRPr lang="it-IT"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fr-FR" sz="2400" dirty="0" smtClean="0"/>
              <a:t>2. La violence des croisades et ses raisons</a:t>
            </a:r>
            <a:endParaRPr lang="fr-FR" sz="2400" dirty="0"/>
          </a:p>
        </p:txBody>
      </p:sp>
      <p:sp>
        <p:nvSpPr>
          <p:cNvPr id="4" name="Segnaposto testo 3"/>
          <p:cNvSpPr>
            <a:spLocks noGrp="1"/>
          </p:cNvSpPr>
          <p:nvPr>
            <p:ph type="body" idx="1"/>
          </p:nvPr>
        </p:nvSpPr>
        <p:spPr>
          <a:xfrm>
            <a:off x="765025" y="4216327"/>
            <a:ext cx="9612971" cy="1542215"/>
          </a:xfrm>
        </p:spPr>
        <p:txBody>
          <a:bodyPr>
            <a:normAutofit/>
          </a:bodyPr>
          <a:lstStyle/>
          <a:p>
            <a:pPr>
              <a:lnSpc>
                <a:spcPct val="150000"/>
              </a:lnSpc>
            </a:pPr>
            <a:r>
              <a:rPr lang="fr-FR" sz="1600" dirty="0" smtClean="0"/>
              <a:t>Quels sont les différents aspects de la violence des croisades?</a:t>
            </a:r>
          </a:p>
          <a:p>
            <a:pPr>
              <a:lnSpc>
                <a:spcPct val="150000"/>
              </a:lnSpc>
            </a:pPr>
            <a:r>
              <a:rPr lang="fr-FR" sz="1600" dirty="0" smtClean="0"/>
              <a:t>Comment les ennemis des croisés sont –ils traités? </a:t>
            </a:r>
            <a:endParaRPr lang="it-IT"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p:cNvSpPr>
            <a:spLocks noGrp="1"/>
          </p:cNvSpPr>
          <p:nvPr>
            <p:ph type="title"/>
          </p:nvPr>
        </p:nvSpPr>
        <p:spPr>
          <a:xfrm>
            <a:off x="990599" y="228600"/>
            <a:ext cx="5268687" cy="500743"/>
          </a:xfrm>
        </p:spPr>
        <p:txBody>
          <a:bodyPr>
            <a:normAutofit/>
          </a:bodyPr>
          <a:lstStyle/>
          <a:p>
            <a:pPr>
              <a:lnSpc>
                <a:spcPct val="150000"/>
              </a:lnSpc>
            </a:pPr>
            <a:r>
              <a:rPr lang="fr-FR" sz="1600" dirty="0" smtClean="0">
                <a:solidFill>
                  <a:srgbClr val="C00000"/>
                </a:solidFill>
              </a:rPr>
              <a:t> </a:t>
            </a:r>
            <a:r>
              <a:rPr lang="fr-FR" sz="1600" dirty="0" smtClean="0">
                <a:solidFill>
                  <a:schemeClr val="tx1"/>
                </a:solidFill>
              </a:rPr>
              <a:t>Saint Bernard </a:t>
            </a:r>
            <a:r>
              <a:rPr lang="fr-FR" sz="1600" dirty="0" smtClean="0">
                <a:solidFill>
                  <a:srgbClr val="C00000"/>
                </a:solidFill>
              </a:rPr>
              <a:t>justifie la violence des croisés</a:t>
            </a:r>
            <a:endParaRPr lang="fr-FR" sz="1600" i="1" dirty="0" smtClean="0">
              <a:solidFill>
                <a:srgbClr val="C00000"/>
              </a:solidFill>
            </a:endParaRPr>
          </a:p>
        </p:txBody>
      </p:sp>
      <p:sp>
        <p:nvSpPr>
          <p:cNvPr id="7" name="Segnaposto contenuto 6"/>
          <p:cNvSpPr>
            <a:spLocks noGrp="1"/>
          </p:cNvSpPr>
          <p:nvPr>
            <p:ph sz="half" idx="1"/>
          </p:nvPr>
        </p:nvSpPr>
        <p:spPr>
          <a:xfrm>
            <a:off x="794656" y="762001"/>
            <a:ext cx="4833257" cy="5682342"/>
          </a:xfrm>
        </p:spPr>
        <p:txBody>
          <a:bodyPr anchor="ctr">
            <a:noAutofit/>
          </a:bodyPr>
          <a:lstStyle/>
          <a:p>
            <a:pPr>
              <a:lnSpc>
                <a:spcPct val="150000"/>
              </a:lnSpc>
              <a:spcBef>
                <a:spcPts val="0"/>
              </a:spcBef>
              <a:spcAft>
                <a:spcPts val="0"/>
              </a:spcAft>
              <a:buNone/>
            </a:pPr>
            <a:r>
              <a:rPr lang="fr-FR" sz="1300" dirty="0" smtClean="0"/>
              <a:t>	</a:t>
            </a:r>
            <a:r>
              <a:rPr lang="fr-FR" sz="1300" i="1" dirty="0" smtClean="0"/>
              <a:t>Pour les chevaliers du Christ, au contraire, c'est en toute sécurité qu'ils combattent pour leur Seigneur, sans avoir à craindre de pécher en tuant leurs adversaires, ni de périr, s'ils se font tuer eux-mêmes</a:t>
            </a:r>
            <a:r>
              <a:rPr lang="fr-FR" sz="1300" b="1" i="1" dirty="0" smtClean="0"/>
              <a:t>. Que la mort soit subie, qu'elle soit donnée, c'est toujours une mort pour le Christ : elle n'a rien de criminel, elle est très glorieuse. Dans un cas, c'est pour servir le Christ ; dans l'autre, elle permet de gagner le Christ lui-même</a:t>
            </a:r>
            <a:r>
              <a:rPr lang="fr-FR" sz="1300" i="1" dirty="0" smtClean="0"/>
              <a:t>: celui-ci permet en effet que, pour le venger, on tue un ennemi, et il se donne lui-même plus volontiers encore au chevalier pour le consoler. Ainsi, disais-je, le chevalier du Christ donne-t-il la mort sans rien redouter ; mais il meurt avec plus de sécurité encore : c'est lui qui bénéficie de sa propre mort, le Christ de la mort qu'il donne. […].</a:t>
            </a:r>
          </a:p>
          <a:p>
            <a:pPr>
              <a:lnSpc>
                <a:spcPct val="150000"/>
              </a:lnSpc>
              <a:spcBef>
                <a:spcPts val="0"/>
              </a:spcBef>
              <a:spcAft>
                <a:spcPts val="0"/>
              </a:spcAft>
              <a:buNone/>
            </a:pPr>
            <a:r>
              <a:rPr lang="fr-FR" sz="1300" i="1" dirty="0" smtClean="0"/>
              <a:t>	</a:t>
            </a:r>
            <a:r>
              <a:rPr lang="fr-FR" sz="1300" dirty="0" smtClean="0"/>
              <a:t>Saint Bernard</a:t>
            </a:r>
            <a:r>
              <a:rPr lang="fr-FR" sz="1300" i="1" dirty="0" smtClean="0"/>
              <a:t>, De </a:t>
            </a:r>
            <a:r>
              <a:rPr lang="fr-FR" sz="1300" i="1" dirty="0" err="1" smtClean="0"/>
              <a:t>laude</a:t>
            </a:r>
            <a:r>
              <a:rPr lang="fr-FR" sz="1300" i="1" dirty="0" smtClean="0"/>
              <a:t> novae </a:t>
            </a:r>
            <a:r>
              <a:rPr lang="fr-FR" sz="1300" i="1" dirty="0" err="1" smtClean="0"/>
              <a:t>militiae</a:t>
            </a:r>
            <a:r>
              <a:rPr lang="fr-FR" sz="1300" i="1" dirty="0" smtClean="0"/>
              <a:t>, </a:t>
            </a:r>
            <a:r>
              <a:rPr lang="fr-FR" sz="1300" dirty="0" smtClean="0"/>
              <a:t>cité par Jean Richard, dans </a:t>
            </a:r>
            <a:r>
              <a:rPr lang="fr-FR" sz="1300" i="1" dirty="0" smtClean="0"/>
              <a:t>L'Esprit de croisade</a:t>
            </a:r>
            <a:r>
              <a:rPr lang="fr-FR" sz="1300" dirty="0" smtClean="0"/>
              <a:t>, Paris, 1969 </a:t>
            </a:r>
          </a:p>
          <a:p>
            <a:pPr>
              <a:lnSpc>
                <a:spcPct val="150000"/>
              </a:lnSpc>
              <a:spcBef>
                <a:spcPts val="0"/>
              </a:spcBef>
              <a:spcAft>
                <a:spcPts val="0"/>
              </a:spcAft>
              <a:buNone/>
            </a:pPr>
            <a:r>
              <a:rPr lang="fr-FR" sz="1300" i="1" dirty="0" smtClean="0"/>
              <a:t>	</a:t>
            </a:r>
            <a:endParaRPr lang="fr-FR" sz="1300" dirty="0"/>
          </a:p>
        </p:txBody>
      </p:sp>
      <p:sp>
        <p:nvSpPr>
          <p:cNvPr id="11" name="CasellaDiTesto 10"/>
          <p:cNvSpPr txBox="1"/>
          <p:nvPr/>
        </p:nvSpPr>
        <p:spPr>
          <a:xfrm>
            <a:off x="6966857" y="1426028"/>
            <a:ext cx="4027714" cy="2462213"/>
          </a:xfrm>
          <a:prstGeom prst="rect">
            <a:avLst/>
          </a:prstGeom>
          <a:noFill/>
        </p:spPr>
        <p:txBody>
          <a:bodyPr wrap="square" rtlCol="0">
            <a:spAutoFit/>
          </a:bodyPr>
          <a:lstStyle/>
          <a:p>
            <a:r>
              <a:rPr lang="fr-FR" sz="1400" dirty="0" smtClean="0"/>
              <a:t> 	</a:t>
            </a:r>
          </a:p>
          <a:p>
            <a:endParaRPr lang="fr-FR" sz="1400" dirty="0" smtClean="0"/>
          </a:p>
          <a:p>
            <a:pPr>
              <a:lnSpc>
                <a:spcPct val="150000"/>
              </a:lnSpc>
            </a:pPr>
            <a:r>
              <a:rPr lang="fr-FR" sz="1400" b="1" dirty="0" smtClean="0"/>
              <a:t>Fondateur et premier abbé de Clairvaux en 1115, </a:t>
            </a:r>
            <a:r>
              <a:rPr lang="fr-FR" sz="1400" dirty="0" smtClean="0"/>
              <a:t>Bernard de Clairvaux est un des grands personnages de l'Occident chrétien et un conseiller écouté des papes. Exploitant l'émotion suscitée par la chute d'Édesse en 1144</a:t>
            </a:r>
            <a:r>
              <a:rPr lang="fr-FR" sz="1400" b="1" dirty="0" smtClean="0"/>
              <a:t>, il prêche la seconde croisade</a:t>
            </a:r>
            <a:r>
              <a:rPr lang="fr-FR" sz="1400" dirty="0" smtClean="0"/>
              <a:t> (1146-1149).</a:t>
            </a:r>
            <a:endParaRPr lang="it-IT"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p:cNvSpPr>
            <a:spLocks noGrp="1"/>
          </p:cNvSpPr>
          <p:nvPr>
            <p:ph type="title"/>
          </p:nvPr>
        </p:nvSpPr>
        <p:spPr>
          <a:xfrm>
            <a:off x="718456" y="0"/>
            <a:ext cx="7500257" cy="500743"/>
          </a:xfrm>
        </p:spPr>
        <p:txBody>
          <a:bodyPr>
            <a:normAutofit/>
          </a:bodyPr>
          <a:lstStyle/>
          <a:p>
            <a:pPr>
              <a:lnSpc>
                <a:spcPct val="150000"/>
              </a:lnSpc>
            </a:pPr>
            <a:r>
              <a:rPr lang="fr-FR" sz="1600" dirty="0" smtClean="0">
                <a:solidFill>
                  <a:srgbClr val="C00000"/>
                </a:solidFill>
              </a:rPr>
              <a:t>La prise de Jérusalem </a:t>
            </a:r>
            <a:r>
              <a:rPr lang="fr-FR" sz="1600" dirty="0" smtClean="0">
                <a:solidFill>
                  <a:schemeClr val="tx1"/>
                </a:solidFill>
              </a:rPr>
              <a:t>vue par Guillaume de Tyr et par Ibn Al-</a:t>
            </a:r>
            <a:r>
              <a:rPr lang="fr-FR" sz="1600" dirty="0" err="1" smtClean="0">
                <a:solidFill>
                  <a:schemeClr val="tx1"/>
                </a:solidFill>
              </a:rPr>
              <a:t>Athir</a:t>
            </a:r>
            <a:r>
              <a:rPr lang="fr-FR" sz="1600" dirty="0" smtClean="0">
                <a:solidFill>
                  <a:schemeClr val="tx1"/>
                </a:solidFill>
              </a:rPr>
              <a:t>	</a:t>
            </a:r>
            <a:endParaRPr lang="fr-FR" sz="1600" i="1" dirty="0" smtClean="0">
              <a:solidFill>
                <a:schemeClr val="tx1"/>
              </a:solidFill>
            </a:endParaRPr>
          </a:p>
        </p:txBody>
      </p:sp>
      <p:sp>
        <p:nvSpPr>
          <p:cNvPr id="7" name="Segnaposto contenuto 6"/>
          <p:cNvSpPr>
            <a:spLocks noGrp="1"/>
          </p:cNvSpPr>
          <p:nvPr>
            <p:ph sz="half" idx="1"/>
          </p:nvPr>
        </p:nvSpPr>
        <p:spPr>
          <a:xfrm>
            <a:off x="696685" y="544286"/>
            <a:ext cx="4909458" cy="5834742"/>
          </a:xfrm>
        </p:spPr>
        <p:txBody>
          <a:bodyPr>
            <a:noAutofit/>
          </a:bodyPr>
          <a:lstStyle/>
          <a:p>
            <a:pPr>
              <a:lnSpc>
                <a:spcPct val="150000"/>
              </a:lnSpc>
              <a:spcBef>
                <a:spcPts val="0"/>
              </a:spcBef>
              <a:spcAft>
                <a:spcPts val="0"/>
              </a:spcAft>
              <a:buNone/>
            </a:pPr>
            <a:r>
              <a:rPr lang="fr-FR" sz="1200" dirty="0" smtClean="0"/>
              <a:t>	</a:t>
            </a:r>
            <a:r>
              <a:rPr lang="fr-FR" sz="1200" i="1" dirty="0" smtClean="0"/>
              <a:t>Le duc [Godefroy de Bouillon] et tous ceux qui étaient entrés avec lui s'étant réunis, couverts de leurs casques et de leurs boucliers, parcouraient les rues et les places, le glaive nu, frappant indistinctement tous les ennemis qui s'offraient à leurs coups, et n'épargnant ni l'âge ni le rang. </a:t>
            </a:r>
            <a:r>
              <a:rPr lang="fr-FR" sz="1200" b="1" i="1" dirty="0" smtClean="0"/>
              <a:t>On voyait tomber de tous côtés de nouvelles victimes, les têtes détachées des corps s'amoncelaient çà et là, et déjà l'on ne pouvait passer dans les rues qu'à travers des monceaux de cadavres [</a:t>
            </a:r>
            <a:r>
              <a:rPr lang="fr-FR" sz="1200" i="1" dirty="0" smtClean="0"/>
              <a:t>…] Les autres princes, après avoir mis à mort dans les divers quartiers de la ville tous ceux qu'ils rencontraient sous leurs pas, ayant appris qu'une grande partie du peuple s'était réfugiée derrière les remparts du Temple, </a:t>
            </a:r>
            <a:r>
              <a:rPr lang="fr-FR" sz="1200" b="1" i="1" dirty="0" smtClean="0"/>
              <a:t>y coururent tous ensemble, conduisant </a:t>
            </a:r>
            <a:r>
              <a:rPr lang="fr-FR" sz="1200" i="1" dirty="0" smtClean="0"/>
              <a:t>à leur suite une immense multitude de cavaliers et de fantassins, frappant de leurs glaives tous ceux qui se présentaient,</a:t>
            </a:r>
            <a:r>
              <a:rPr lang="fr-FR" sz="1200" b="1" i="1" dirty="0" smtClean="0"/>
              <a:t> ne faisant grâce à personne, et inondant la place du sang des infidèles</a:t>
            </a:r>
            <a:r>
              <a:rPr lang="fr-FR" sz="1200" i="1" dirty="0" smtClean="0"/>
              <a:t>. </a:t>
            </a:r>
            <a:r>
              <a:rPr lang="fr-FR" sz="1200" b="1" i="1" dirty="0" smtClean="0"/>
              <a:t>Ils accomplirent ainsi les justes décrets de Dieu, afin que ceux qui avaient profané le sanctuaire du Seigneur par leurs actes superstitieux, le rendant dès lors étranger au peuple fidèle, le purifiassent à leur tour par leur propre sang,</a:t>
            </a:r>
            <a:r>
              <a:rPr lang="fr-FR" sz="1200" i="1" dirty="0" smtClean="0"/>
              <a:t> et subissent la mort dans ce lieu même en expiation de leurs crimes. </a:t>
            </a:r>
            <a:endParaRPr lang="fr-FR" sz="1200" dirty="0"/>
          </a:p>
        </p:txBody>
      </p:sp>
      <p:sp>
        <p:nvSpPr>
          <p:cNvPr id="9" name="Segnaposto contenuto 7"/>
          <p:cNvSpPr>
            <a:spLocks noGrp="1"/>
          </p:cNvSpPr>
          <p:nvPr>
            <p:ph sz="half" idx="1"/>
          </p:nvPr>
        </p:nvSpPr>
        <p:spPr>
          <a:xfrm>
            <a:off x="6444342" y="489857"/>
            <a:ext cx="5355771" cy="6019800"/>
          </a:xfrm>
        </p:spPr>
        <p:txBody>
          <a:bodyPr>
            <a:normAutofit/>
          </a:bodyPr>
          <a:lstStyle/>
          <a:p>
            <a:pPr>
              <a:lnSpc>
                <a:spcPct val="160000"/>
              </a:lnSpc>
              <a:spcBef>
                <a:spcPts val="0"/>
              </a:spcBef>
              <a:spcAft>
                <a:spcPts val="0"/>
              </a:spcAft>
              <a:buNone/>
            </a:pPr>
            <a:r>
              <a:rPr lang="fr-FR" sz="1200" i="1" dirty="0" smtClean="0">
                <a:solidFill>
                  <a:schemeClr val="tx1"/>
                </a:solidFill>
              </a:rPr>
              <a:t>	La Ville sainte fut prise du côté du nord, dans la matinée du vendredi 22 du mois de </a:t>
            </a:r>
            <a:r>
              <a:rPr lang="fr-FR" sz="1200" i="1" dirty="0" err="1" smtClean="0">
                <a:solidFill>
                  <a:schemeClr val="tx1"/>
                </a:solidFill>
              </a:rPr>
              <a:t>Shaban</a:t>
            </a:r>
            <a:r>
              <a:rPr lang="fr-FR" sz="1200" i="1" dirty="0" smtClean="0">
                <a:solidFill>
                  <a:schemeClr val="tx1"/>
                </a:solidFill>
              </a:rPr>
              <a:t> [15 juillet]. </a:t>
            </a:r>
            <a:r>
              <a:rPr lang="fr-FR" sz="1200" b="1" i="1" dirty="0" smtClean="0">
                <a:solidFill>
                  <a:schemeClr val="tx1"/>
                </a:solidFill>
              </a:rPr>
              <a:t>Aussitôt la foule prit la fuite. Les Francs restèrent une semaine dans la ville, occupés à massacrer les musulmans</a:t>
            </a:r>
            <a:r>
              <a:rPr lang="fr-FR" sz="1200" i="1" dirty="0" smtClean="0">
                <a:solidFill>
                  <a:schemeClr val="tx1"/>
                </a:solidFill>
              </a:rPr>
              <a:t>. Une troupe de musulmans s'était retirée dans le </a:t>
            </a:r>
            <a:r>
              <a:rPr lang="fr-FR" sz="1200" i="1" dirty="0" err="1" smtClean="0">
                <a:solidFill>
                  <a:schemeClr val="tx1"/>
                </a:solidFill>
              </a:rPr>
              <a:t>mirhab</a:t>
            </a:r>
            <a:r>
              <a:rPr lang="fr-FR" sz="1200" i="1" dirty="0" smtClean="0">
                <a:solidFill>
                  <a:schemeClr val="tx1"/>
                </a:solidFill>
              </a:rPr>
              <a:t> de David , et s'y était fortifiée. Elle se défendit pendant trois jours. Les Francs ayant offert de les recevoir à capitulation, ils se rendirent et eurent la vie sauve ; on leur permit de sortir pendant la nuit et ils se retirèrent à Ascalon.</a:t>
            </a:r>
          </a:p>
          <a:p>
            <a:pPr>
              <a:lnSpc>
                <a:spcPct val="160000"/>
              </a:lnSpc>
              <a:spcBef>
                <a:spcPts val="0"/>
              </a:spcBef>
              <a:spcAft>
                <a:spcPts val="0"/>
              </a:spcAft>
              <a:buNone/>
            </a:pPr>
            <a:r>
              <a:rPr lang="fr-FR" sz="1200" i="1" dirty="0" smtClean="0">
                <a:solidFill>
                  <a:schemeClr val="tx1"/>
                </a:solidFill>
              </a:rPr>
              <a:t>	</a:t>
            </a:r>
            <a:r>
              <a:rPr lang="fr-FR" sz="1200" b="1" i="1" dirty="0" smtClean="0">
                <a:solidFill>
                  <a:schemeClr val="tx1"/>
                </a:solidFill>
              </a:rPr>
              <a:t>Les Francs massacrèrent plus de 70 000 musulmans dans la mosquée al-</a:t>
            </a:r>
            <a:r>
              <a:rPr lang="fr-FR" sz="1200" b="1" i="1" dirty="0" err="1" smtClean="0">
                <a:solidFill>
                  <a:schemeClr val="tx1"/>
                </a:solidFill>
              </a:rPr>
              <a:t>Aqsâ</a:t>
            </a:r>
            <a:r>
              <a:rPr lang="fr-FR" sz="1200" b="1" i="1" dirty="0" smtClean="0">
                <a:solidFill>
                  <a:schemeClr val="tx1"/>
                </a:solidFill>
              </a:rPr>
              <a:t> : parmi eux on remarquait un grand nombre d'imams, de savants, et de personnes d'une vie pieuse et mortifiée</a:t>
            </a:r>
            <a:r>
              <a:rPr lang="fr-FR" sz="1200" i="1" dirty="0" smtClean="0">
                <a:solidFill>
                  <a:schemeClr val="tx1"/>
                </a:solidFill>
              </a:rPr>
              <a:t> - qui avaient quitté leur patrie pour venir prier dans ce noble lieu.</a:t>
            </a:r>
          </a:p>
          <a:p>
            <a:pPr>
              <a:lnSpc>
                <a:spcPct val="160000"/>
              </a:lnSpc>
              <a:spcBef>
                <a:spcPts val="0"/>
              </a:spcBef>
              <a:spcAft>
                <a:spcPts val="0"/>
              </a:spcAft>
              <a:buNone/>
            </a:pPr>
            <a:r>
              <a:rPr lang="fr-FR" sz="1200" i="1" dirty="0" smtClean="0">
                <a:solidFill>
                  <a:schemeClr val="tx1"/>
                </a:solidFill>
              </a:rPr>
              <a:t>	Les Francs enlevèrent d'al-</a:t>
            </a:r>
            <a:r>
              <a:rPr lang="fr-FR" sz="1200" i="1" dirty="0" err="1" smtClean="0">
                <a:solidFill>
                  <a:schemeClr val="tx1"/>
                </a:solidFill>
              </a:rPr>
              <a:t>Sakra</a:t>
            </a:r>
            <a:r>
              <a:rPr lang="fr-FR" sz="1200" i="1" dirty="0" smtClean="0">
                <a:solidFill>
                  <a:schemeClr val="tx1"/>
                </a:solidFill>
              </a:rPr>
              <a:t>  plus de quarante lampes d'argent, chacune du poids de 3 000 dirhams. Ils y prirent aussi un grand lampadaire d'argent qui pesait 40 </a:t>
            </a:r>
            <a:r>
              <a:rPr lang="fr-FR" sz="1200" i="1" dirty="0" err="1" smtClean="0">
                <a:solidFill>
                  <a:schemeClr val="tx1"/>
                </a:solidFill>
              </a:rPr>
              <a:t>ratls</a:t>
            </a:r>
            <a:r>
              <a:rPr lang="fr-FR" sz="1200" i="1" dirty="0" smtClean="0">
                <a:solidFill>
                  <a:schemeClr val="tx1"/>
                </a:solidFill>
              </a:rPr>
              <a:t>  de Syrie, ainsi que 150 lampes d'une moindre valeur. </a:t>
            </a:r>
            <a:r>
              <a:rPr lang="fr-FR" sz="1200" b="1" i="1" dirty="0" smtClean="0">
                <a:solidFill>
                  <a:schemeClr val="tx1"/>
                </a:solidFill>
              </a:rPr>
              <a:t>Le butin fait par les Francs était immense.</a:t>
            </a:r>
          </a:p>
          <a:p>
            <a:pPr>
              <a:lnSpc>
                <a:spcPct val="160000"/>
              </a:lnSpc>
              <a:spcBef>
                <a:spcPts val="0"/>
              </a:spcBef>
              <a:spcAft>
                <a:spcPts val="0"/>
              </a:spcAft>
              <a:buNone/>
            </a:pPr>
            <a:r>
              <a:rPr lang="fr-FR" sz="1200" i="1" dirty="0" smtClean="0">
                <a:solidFill>
                  <a:schemeClr val="tx1"/>
                </a:solidFill>
              </a:rPr>
              <a:t>	</a:t>
            </a:r>
            <a:r>
              <a:rPr lang="fr-FR" sz="1200" b="1" i="1" dirty="0" smtClean="0">
                <a:solidFill>
                  <a:schemeClr val="tx1"/>
                </a:solidFill>
              </a:rPr>
              <a:t>Les princes n'étaient pas d'accord ensemble. Voilà pourquoi les Francs se rendirent maîtres du pays.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480458" y="0"/>
            <a:ext cx="9601200" cy="685800"/>
          </a:xfrm>
        </p:spPr>
        <p:txBody>
          <a:bodyPr anchor="ctr">
            <a:normAutofit/>
          </a:bodyPr>
          <a:lstStyle/>
          <a:p>
            <a:r>
              <a:rPr lang="fr-FR" sz="1600" dirty="0" smtClean="0"/>
              <a:t>Le siège d’Antioche	(1098)			          </a:t>
            </a:r>
            <a:r>
              <a:rPr lang="fr-FR" sz="1600" dirty="0" err="1" smtClean="0"/>
              <a:t>Saint-Jean-d'Acre</a:t>
            </a:r>
            <a:r>
              <a:rPr lang="fr-FR" sz="1600" dirty="0" smtClean="0"/>
              <a:t>, supplice des Turcs (1191)</a:t>
            </a:r>
            <a:endParaRPr lang="it-IT" sz="1600" dirty="0"/>
          </a:p>
        </p:txBody>
      </p:sp>
      <p:pic>
        <p:nvPicPr>
          <p:cNvPr id="5" name="Segnaposto contenuto 4" descr="attaque_antioche.jpg"/>
          <p:cNvPicPr>
            <a:picLocks noGrp="1" noChangeAspect="1"/>
          </p:cNvPicPr>
          <p:nvPr>
            <p:ph sz="half" idx="1"/>
          </p:nvPr>
        </p:nvPicPr>
        <p:blipFill>
          <a:blip r:embed="rId2"/>
          <a:stretch>
            <a:fillRect/>
          </a:stretch>
        </p:blipFill>
        <p:spPr>
          <a:xfrm>
            <a:off x="1491343" y="859111"/>
            <a:ext cx="2881867" cy="4453118"/>
          </a:xfrm>
        </p:spPr>
      </p:pic>
      <p:pic>
        <p:nvPicPr>
          <p:cNvPr id="7" name="Segnaposto contenuto 6" descr="supplice desTurcs.jpg"/>
          <p:cNvPicPr>
            <a:picLocks noGrp="1" noChangeAspect="1"/>
          </p:cNvPicPr>
          <p:nvPr>
            <p:ph sz="half" idx="2"/>
          </p:nvPr>
        </p:nvPicPr>
        <p:blipFill>
          <a:blip r:embed="rId3"/>
          <a:stretch>
            <a:fillRect/>
          </a:stretch>
        </p:blipFill>
        <p:spPr>
          <a:xfrm>
            <a:off x="6755784" y="914400"/>
            <a:ext cx="4148299" cy="3754211"/>
          </a:xfrm>
        </p:spPr>
      </p:pic>
      <p:sp>
        <p:nvSpPr>
          <p:cNvPr id="6" name="CasellaDiTesto 5"/>
          <p:cNvSpPr txBox="1"/>
          <p:nvPr/>
        </p:nvSpPr>
        <p:spPr>
          <a:xfrm>
            <a:off x="685800" y="5347485"/>
            <a:ext cx="5486400" cy="1107996"/>
          </a:xfrm>
          <a:prstGeom prst="rect">
            <a:avLst/>
          </a:prstGeom>
          <a:noFill/>
        </p:spPr>
        <p:txBody>
          <a:bodyPr wrap="square" rtlCol="0">
            <a:spAutoFit/>
          </a:bodyPr>
          <a:lstStyle/>
          <a:p>
            <a:pPr>
              <a:lnSpc>
                <a:spcPct val="150000"/>
              </a:lnSpc>
            </a:pPr>
            <a:r>
              <a:rPr lang="fr-FR" sz="1100" dirty="0" smtClean="0"/>
              <a:t> </a:t>
            </a:r>
            <a:r>
              <a:rPr lang="fr-FR" sz="1100" b="1" dirty="0" smtClean="0"/>
              <a:t>Ière croisade : Attaque d'Antioche par les croisés qui escaladent les murs</a:t>
            </a:r>
          </a:p>
          <a:p>
            <a:pPr>
              <a:lnSpc>
                <a:spcPct val="150000"/>
              </a:lnSpc>
            </a:pPr>
            <a:r>
              <a:rPr lang="fr-FR" sz="1100" dirty="0" smtClean="0"/>
              <a:t>Sébastien </a:t>
            </a:r>
            <a:r>
              <a:rPr lang="fr-FR" sz="1100" dirty="0" err="1" smtClean="0"/>
              <a:t>Mamerot</a:t>
            </a:r>
            <a:r>
              <a:rPr lang="fr-FR" sz="1100" dirty="0" smtClean="0"/>
              <a:t>, </a:t>
            </a:r>
            <a:r>
              <a:rPr lang="fr-FR" sz="1100" i="1" dirty="0" smtClean="0"/>
              <a:t>Les Passages faits outremer par les Français contre les Turcs depuis Charlemagne jusqu'en 1462</a:t>
            </a:r>
            <a:r>
              <a:rPr lang="fr-FR" sz="1100" dirty="0" smtClean="0"/>
              <a:t>. Manuscrit enluminé sur parchemin Bourges, Jean Colombe, 1474-1475. </a:t>
            </a:r>
            <a:r>
              <a:rPr lang="fr-FR" sz="1100" dirty="0" err="1" smtClean="0"/>
              <a:t>BnF</a:t>
            </a:r>
            <a:r>
              <a:rPr lang="fr-FR" sz="1100" dirty="0" smtClean="0"/>
              <a:t>, Manuscrits</a:t>
            </a:r>
          </a:p>
        </p:txBody>
      </p:sp>
      <p:sp>
        <p:nvSpPr>
          <p:cNvPr id="9" name="CasellaDiTesto 8"/>
          <p:cNvSpPr txBox="1"/>
          <p:nvPr/>
        </p:nvSpPr>
        <p:spPr>
          <a:xfrm>
            <a:off x="6531428" y="5347485"/>
            <a:ext cx="5486400" cy="1361911"/>
          </a:xfrm>
          <a:prstGeom prst="rect">
            <a:avLst/>
          </a:prstGeom>
          <a:noFill/>
        </p:spPr>
        <p:txBody>
          <a:bodyPr wrap="square" rtlCol="0">
            <a:spAutoFit/>
          </a:bodyPr>
          <a:lstStyle/>
          <a:p>
            <a:pPr>
              <a:lnSpc>
                <a:spcPct val="150000"/>
              </a:lnSpc>
            </a:pPr>
            <a:r>
              <a:rPr lang="fr-FR" sz="1100" b="1" dirty="0" smtClean="0"/>
              <a:t>IIIe croisade : Richard Cœur de Lion assiste à l'exécution de prisonniers Turcs à </a:t>
            </a:r>
            <a:r>
              <a:rPr lang="fr-FR" sz="1100" b="1" dirty="0" err="1" smtClean="0"/>
              <a:t>Saint-Jean-d'Acre</a:t>
            </a:r>
            <a:endParaRPr lang="fr-FR" sz="1100" b="1" dirty="0" smtClean="0"/>
          </a:p>
          <a:p>
            <a:pPr>
              <a:lnSpc>
                <a:spcPct val="150000"/>
              </a:lnSpc>
            </a:pPr>
            <a:r>
              <a:rPr lang="fr-FR" sz="1100" dirty="0" smtClean="0"/>
              <a:t>Sébastien </a:t>
            </a:r>
            <a:r>
              <a:rPr lang="fr-FR" sz="1100" dirty="0" err="1" smtClean="0"/>
              <a:t>Mamerot</a:t>
            </a:r>
            <a:r>
              <a:rPr lang="fr-FR" sz="1100" dirty="0" smtClean="0"/>
              <a:t>, </a:t>
            </a:r>
            <a:r>
              <a:rPr lang="fr-FR" sz="1100" i="1" dirty="0" smtClean="0"/>
              <a:t>Les Passages d'outremer faits par les Français contre les Turcs depuis Charlemagne jusqu'en 1462</a:t>
            </a:r>
            <a:r>
              <a:rPr lang="fr-FR" sz="1100" dirty="0" smtClean="0"/>
              <a:t>. Manuscrit enluminé sur parchemin Bourges, Jean Colombe, 1474-1475. </a:t>
            </a:r>
            <a:r>
              <a:rPr lang="fr-FR" sz="1100" dirty="0" err="1" smtClean="0"/>
              <a:t>BnF</a:t>
            </a:r>
            <a:r>
              <a:rPr lang="fr-FR" sz="1100" dirty="0" smtClean="0"/>
              <a:t>, Manuscrits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fr-FR" sz="2400" dirty="0" smtClean="0"/>
              <a:t>3. Le Djihad</a:t>
            </a:r>
            <a:endParaRPr lang="fr-FR" sz="2400" dirty="0"/>
          </a:p>
        </p:txBody>
      </p:sp>
      <p:sp>
        <p:nvSpPr>
          <p:cNvPr id="4" name="Segnaposto testo 3"/>
          <p:cNvSpPr>
            <a:spLocks noGrp="1"/>
          </p:cNvSpPr>
          <p:nvPr>
            <p:ph type="body" idx="1"/>
          </p:nvPr>
        </p:nvSpPr>
        <p:spPr>
          <a:xfrm>
            <a:off x="765025" y="4216327"/>
            <a:ext cx="9612971" cy="1542215"/>
          </a:xfrm>
        </p:spPr>
        <p:txBody>
          <a:bodyPr>
            <a:normAutofit lnSpcReduction="10000"/>
          </a:bodyPr>
          <a:lstStyle/>
          <a:p>
            <a:pPr>
              <a:lnSpc>
                <a:spcPct val="150000"/>
              </a:lnSpc>
            </a:pPr>
            <a:r>
              <a:rPr lang="fr-FR" sz="1600" dirty="0" smtClean="0"/>
              <a:t>En quoi le djihad représente-il une réponse des musulmans aux violences des croisades et un devoir religieux?</a:t>
            </a:r>
          </a:p>
          <a:p>
            <a:pPr>
              <a:lnSpc>
                <a:spcPct val="150000"/>
              </a:lnSpc>
            </a:pPr>
            <a:r>
              <a:rPr lang="fr-FR" sz="1600" dirty="0" smtClean="0"/>
              <a:t>Quelle image et quel vocabulaire reviennent souvent sous la plume des musulmans quand ils évoquent les chrétiens ?</a:t>
            </a:r>
            <a:endParaRPr lang="it-IT"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testo 3"/>
          <p:cNvSpPr>
            <a:spLocks noGrp="1"/>
          </p:cNvSpPr>
          <p:nvPr>
            <p:ph type="body" sz="half" idx="2"/>
          </p:nvPr>
        </p:nvSpPr>
        <p:spPr>
          <a:xfrm>
            <a:off x="228599" y="0"/>
            <a:ext cx="4909458" cy="6858000"/>
          </a:xfrm>
        </p:spPr>
        <p:txBody>
          <a:bodyPr>
            <a:noAutofit/>
          </a:bodyPr>
          <a:lstStyle/>
          <a:p>
            <a:pPr marL="228600" indent="-228600">
              <a:lnSpc>
                <a:spcPct val="170000"/>
              </a:lnSpc>
              <a:spcAft>
                <a:spcPts val="0"/>
              </a:spcAft>
              <a:buAutoNum type="arabicPeriod"/>
            </a:pPr>
            <a:r>
              <a:rPr lang="fr-FR" sz="1200" b="1" dirty="0" smtClean="0"/>
              <a:t>Le mot arabe jihad indique « un effort tendu vers un but déterminé »</a:t>
            </a:r>
            <a:r>
              <a:rPr lang="fr-FR" sz="1200" dirty="0" smtClean="0"/>
              <a:t>. Souvent traduit par « guerre sainte » dans les langues occidentales, le djihad a varié au cours des siècles dans sa conception comme dans son application. Ce n'est pas un devoir personnel, </a:t>
            </a:r>
            <a:r>
              <a:rPr lang="fr-FR" sz="1200" b="1" dirty="0" smtClean="0"/>
              <a:t>c'est un devoir collectif s'adressant à l'ensemble de la communauté musulmane (</a:t>
            </a:r>
            <a:r>
              <a:rPr lang="fr-FR" sz="1200" b="1" i="1" dirty="0" err="1" smtClean="0"/>
              <a:t>umma</a:t>
            </a:r>
            <a:r>
              <a:rPr lang="fr-FR" sz="1200" b="1" dirty="0" smtClean="0"/>
              <a:t>),</a:t>
            </a:r>
            <a:r>
              <a:rPr lang="fr-FR" sz="1200" dirty="0" smtClean="0"/>
              <a:t> et dont les règles précises ne furent fixées qu'après la mort du Prophète. Pour fonder leur opinion en la matière, les théologiens-juristes […] se référeront au Coran, à la tradition du Prophète (</a:t>
            </a:r>
            <a:r>
              <a:rPr lang="fr-FR" sz="1200" i="1" dirty="0" smtClean="0"/>
              <a:t>sunna</a:t>
            </a:r>
            <a:r>
              <a:rPr lang="fr-FR" sz="1200" dirty="0" smtClean="0"/>
              <a:t>) et aux règles édictées par les premiers califes. </a:t>
            </a:r>
          </a:p>
          <a:p>
            <a:pPr marL="228600" indent="-228600">
              <a:lnSpc>
                <a:spcPct val="170000"/>
              </a:lnSpc>
              <a:spcAft>
                <a:spcPts val="0"/>
              </a:spcAft>
              <a:buAutoNum type="arabicPeriod"/>
            </a:pPr>
            <a:r>
              <a:rPr lang="fr-FR" sz="1200" dirty="0" smtClean="0"/>
              <a:t>[…]  </a:t>
            </a:r>
            <a:r>
              <a:rPr lang="fr-FR" sz="1200" b="1" dirty="0" smtClean="0"/>
              <a:t>En tant qu'universalisme, l'islam doit être propagé au monde entier</a:t>
            </a:r>
            <a:r>
              <a:rPr lang="fr-FR" sz="1200" dirty="0" smtClean="0"/>
              <a:t> et c'est là un devoir permanent pour la communauté musulmane. </a:t>
            </a:r>
            <a:r>
              <a:rPr lang="fr-FR" sz="1200" b="1" dirty="0" smtClean="0"/>
              <a:t>Le djihad est ainsi une institution divine pour propager l'islam</a:t>
            </a:r>
            <a:r>
              <a:rPr lang="fr-FR" sz="1200" dirty="0" smtClean="0"/>
              <a:t> dans le </a:t>
            </a:r>
            <a:r>
              <a:rPr lang="fr-FR" sz="1200" dirty="0" err="1" smtClean="0"/>
              <a:t>dār</a:t>
            </a:r>
            <a:r>
              <a:rPr lang="fr-FR" sz="1200" dirty="0" smtClean="0"/>
              <a:t> al-</a:t>
            </a:r>
            <a:r>
              <a:rPr lang="fr-FR" sz="1200" dirty="0" err="1" smtClean="0"/>
              <a:t>harb</a:t>
            </a:r>
            <a:r>
              <a:rPr lang="fr-FR" sz="1200" dirty="0" smtClean="0"/>
              <a:t> (les territoires non encore gagnés à l'islam, décrits comme le domaine du combat) </a:t>
            </a:r>
            <a:r>
              <a:rPr lang="fr-FR" sz="1200" b="1" dirty="0" smtClean="0"/>
              <a:t>ou pour défendre l'islam contre un danger. </a:t>
            </a:r>
            <a:r>
              <a:rPr lang="fr-FR" sz="1200" dirty="0" smtClean="0"/>
              <a:t>Pour être légitime, il doit avoir des chances raisonnables de succès. </a:t>
            </a:r>
            <a:r>
              <a:rPr lang="fr-FR" sz="1200" b="1" dirty="0" smtClean="0"/>
              <a:t>Mais le djihad n'est pas une guerre sainte d'extermination</a:t>
            </a:r>
            <a:r>
              <a:rPr lang="fr-FR" sz="1200" dirty="0" smtClean="0"/>
              <a:t> : dans sa version offensive, dirigée contre </a:t>
            </a:r>
            <a:r>
              <a:rPr lang="fr-FR" sz="1200" b="1" dirty="0" smtClean="0"/>
              <a:t>les peuples infidèles </a:t>
            </a:r>
            <a:r>
              <a:rPr lang="fr-FR" sz="1200" dirty="0" smtClean="0"/>
              <a:t>voisins du « territoire de l'islam », ceux-ci, </a:t>
            </a:r>
            <a:r>
              <a:rPr lang="fr-FR" sz="1200" b="1" dirty="0" smtClean="0"/>
              <a:t>avant d'être combattus, doivent être invités à se convertir. </a:t>
            </a:r>
          </a:p>
          <a:p>
            <a:pPr marL="228600" indent="-228600" algn="r">
              <a:lnSpc>
                <a:spcPct val="170000"/>
              </a:lnSpc>
              <a:spcAft>
                <a:spcPts val="0"/>
              </a:spcAft>
            </a:pPr>
            <a:r>
              <a:rPr lang="fr-FR" sz="1200" dirty="0" smtClean="0"/>
              <a:t>Cfr. https://www.universalis.fr/encyclopedie/djihad-jihad/</a:t>
            </a:r>
          </a:p>
        </p:txBody>
      </p:sp>
      <p:pic>
        <p:nvPicPr>
          <p:cNvPr id="19" name="Segnaposto contenuto 18" descr="histoire_mahomet.jpg"/>
          <p:cNvPicPr>
            <a:picLocks noGrp="1" noChangeAspect="1"/>
          </p:cNvPicPr>
          <p:nvPr>
            <p:ph idx="1"/>
          </p:nvPr>
        </p:nvPicPr>
        <p:blipFill>
          <a:blip r:embed="rId2"/>
          <a:stretch>
            <a:fillRect/>
          </a:stretch>
        </p:blipFill>
        <p:spPr>
          <a:xfrm>
            <a:off x="6256338" y="1152238"/>
            <a:ext cx="5211762" cy="4242374"/>
          </a:xfrm>
        </p:spPr>
      </p:pic>
      <p:sp>
        <p:nvSpPr>
          <p:cNvPr id="20" name="CasellaDiTesto 19"/>
          <p:cNvSpPr txBox="1"/>
          <p:nvPr/>
        </p:nvSpPr>
        <p:spPr>
          <a:xfrm>
            <a:off x="6008915" y="5399315"/>
            <a:ext cx="5758541" cy="923330"/>
          </a:xfrm>
          <a:prstGeom prst="rect">
            <a:avLst/>
          </a:prstGeom>
          <a:noFill/>
        </p:spPr>
        <p:txBody>
          <a:bodyPr wrap="square" rtlCol="0">
            <a:spAutoFit/>
          </a:bodyPr>
          <a:lstStyle/>
          <a:p>
            <a:pPr algn="ctr">
              <a:lnSpc>
                <a:spcPct val="150000"/>
              </a:lnSpc>
            </a:pPr>
            <a:r>
              <a:rPr lang="fr-FR" sz="1200" b="1" dirty="0" smtClean="0"/>
              <a:t>L 'histoire de Mahomet</a:t>
            </a:r>
          </a:p>
          <a:p>
            <a:pPr>
              <a:lnSpc>
                <a:spcPct val="150000"/>
              </a:lnSpc>
            </a:pPr>
            <a:r>
              <a:rPr lang="fr-FR" sz="1200" dirty="0" smtClean="0"/>
              <a:t>Après la mort de Mahomet et suivant ses vœux, </a:t>
            </a:r>
            <a:r>
              <a:rPr lang="fr-FR" sz="1200" b="1" dirty="0" smtClean="0"/>
              <a:t>l'islam est parti à la conquête du monde dans le but d'établir un </a:t>
            </a:r>
            <a:r>
              <a:rPr lang="fr-FR" sz="1200" b="1" dirty="0" err="1" smtClean="0"/>
              <a:t>califât</a:t>
            </a:r>
            <a:r>
              <a:rPr lang="fr-FR" sz="1200" b="1" dirty="0" smtClean="0"/>
              <a:t> sur l'ensemble de la planète. </a:t>
            </a:r>
            <a:endParaRPr lang="it-IT" sz="1200" b="1" dirty="0"/>
          </a:p>
        </p:txBody>
      </p:sp>
      <p:sp>
        <p:nvSpPr>
          <p:cNvPr id="22" name="CasellaDiTesto 21"/>
          <p:cNvSpPr txBox="1"/>
          <p:nvPr/>
        </p:nvSpPr>
        <p:spPr>
          <a:xfrm>
            <a:off x="7511143" y="642257"/>
            <a:ext cx="1970314" cy="369332"/>
          </a:xfrm>
          <a:prstGeom prst="rect">
            <a:avLst/>
          </a:prstGeom>
          <a:noFill/>
        </p:spPr>
        <p:txBody>
          <a:bodyPr wrap="square" rtlCol="0">
            <a:spAutoFit/>
          </a:bodyPr>
          <a:lstStyle/>
          <a:p>
            <a:r>
              <a:rPr lang="it-IT" dirty="0" err="1" smtClean="0">
                <a:solidFill>
                  <a:srgbClr val="C00000"/>
                </a:solidFill>
              </a:rPr>
              <a:t>Djihad</a:t>
            </a:r>
            <a:r>
              <a:rPr lang="it-IT" dirty="0" smtClean="0">
                <a:solidFill>
                  <a:srgbClr val="C00000"/>
                </a:solidFill>
              </a:rPr>
              <a:t> (jihad) </a:t>
            </a:r>
            <a:endParaRPr lang="it-IT" dirty="0">
              <a:solidFill>
                <a:srgbClr val="C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p:cNvSpPr>
            <a:spLocks noGrp="1"/>
          </p:cNvSpPr>
          <p:nvPr>
            <p:ph type="title"/>
          </p:nvPr>
        </p:nvSpPr>
        <p:spPr>
          <a:xfrm>
            <a:off x="990599" y="228600"/>
            <a:ext cx="11016344" cy="500743"/>
          </a:xfrm>
        </p:spPr>
        <p:txBody>
          <a:bodyPr>
            <a:normAutofit/>
          </a:bodyPr>
          <a:lstStyle/>
          <a:p>
            <a:pPr>
              <a:lnSpc>
                <a:spcPct val="150000"/>
              </a:lnSpc>
            </a:pPr>
            <a:r>
              <a:rPr lang="fr-FR" sz="1600" dirty="0" smtClean="0">
                <a:solidFill>
                  <a:srgbClr val="C00000"/>
                </a:solidFill>
              </a:rPr>
              <a:t> Saladin appelle à la contre-croisade, </a:t>
            </a:r>
            <a:r>
              <a:rPr lang="fr-FR" sz="1600" dirty="0" smtClean="0">
                <a:solidFill>
                  <a:schemeClr val="tx1"/>
                </a:solidFill>
              </a:rPr>
              <a:t>par Abû </a:t>
            </a:r>
            <a:r>
              <a:rPr lang="fr-FR" sz="1600" dirty="0" err="1" smtClean="0">
                <a:solidFill>
                  <a:schemeClr val="tx1"/>
                </a:solidFill>
              </a:rPr>
              <a:t>Shâma</a:t>
            </a:r>
            <a:r>
              <a:rPr lang="fr-FR" sz="1600" dirty="0" smtClean="0">
                <a:solidFill>
                  <a:schemeClr val="tx1"/>
                </a:solidFill>
              </a:rPr>
              <a:t>	</a:t>
            </a:r>
            <a:r>
              <a:rPr lang="fr-FR" sz="1600" dirty="0" smtClean="0">
                <a:solidFill>
                  <a:srgbClr val="C00000"/>
                </a:solidFill>
              </a:rPr>
              <a:t>La reconquête de Jérusalem </a:t>
            </a:r>
            <a:r>
              <a:rPr lang="fr-FR" sz="1600" dirty="0" smtClean="0">
                <a:solidFill>
                  <a:schemeClr val="tx1"/>
                </a:solidFill>
              </a:rPr>
              <a:t>vue par </a:t>
            </a:r>
            <a:r>
              <a:rPr lang="fr-FR" sz="1600" dirty="0" err="1" smtClean="0">
                <a:solidFill>
                  <a:schemeClr val="tx1"/>
                </a:solidFill>
              </a:rPr>
              <a:t>Imâd</a:t>
            </a:r>
            <a:r>
              <a:rPr lang="fr-FR" sz="1600" dirty="0" smtClean="0">
                <a:solidFill>
                  <a:schemeClr val="tx1"/>
                </a:solidFill>
              </a:rPr>
              <a:t> ad-</a:t>
            </a:r>
            <a:r>
              <a:rPr lang="fr-FR" sz="1600" dirty="0" err="1" smtClean="0">
                <a:solidFill>
                  <a:schemeClr val="tx1"/>
                </a:solidFill>
              </a:rPr>
              <a:t>Dîn</a:t>
            </a:r>
            <a:endParaRPr lang="fr-FR" sz="1600" i="1" dirty="0" smtClean="0">
              <a:solidFill>
                <a:srgbClr val="C00000"/>
              </a:solidFill>
            </a:endParaRPr>
          </a:p>
        </p:txBody>
      </p:sp>
      <p:sp>
        <p:nvSpPr>
          <p:cNvPr id="7" name="Segnaposto contenuto 6"/>
          <p:cNvSpPr>
            <a:spLocks noGrp="1"/>
          </p:cNvSpPr>
          <p:nvPr>
            <p:ph sz="half" idx="1"/>
          </p:nvPr>
        </p:nvSpPr>
        <p:spPr>
          <a:xfrm>
            <a:off x="794656" y="762001"/>
            <a:ext cx="5127173" cy="5682342"/>
          </a:xfrm>
        </p:spPr>
        <p:txBody>
          <a:bodyPr anchor="ctr">
            <a:noAutofit/>
          </a:bodyPr>
          <a:lstStyle/>
          <a:p>
            <a:pPr>
              <a:lnSpc>
                <a:spcPct val="150000"/>
              </a:lnSpc>
              <a:spcBef>
                <a:spcPts val="0"/>
              </a:spcBef>
              <a:spcAft>
                <a:spcPts val="0"/>
              </a:spcAft>
              <a:buNone/>
            </a:pPr>
            <a:r>
              <a:rPr lang="fr-FR" sz="1200" dirty="0" smtClean="0"/>
              <a:t>	</a:t>
            </a:r>
            <a:r>
              <a:rPr lang="fr-FR" sz="1200" b="1" i="1" dirty="0" smtClean="0"/>
              <a:t>Où est le sens de l'honneur des musulmans, où sont la fierté des croyants, le zèle des fidèles ? </a:t>
            </a:r>
            <a:r>
              <a:rPr lang="fr-FR" sz="1200" i="1" dirty="0" smtClean="0"/>
              <a:t>C'est pour nous un constant sujet d'étonnement que de voir combien les Infidèles se soutiennent les uns les autres, et combien les musulmans sont réticents</a:t>
            </a:r>
            <a:r>
              <a:rPr lang="fr-FR" sz="1200" b="1" i="1" dirty="0" smtClean="0"/>
              <a:t>. Aucun d'eux ne répond à l'appel, aucun ne vient redresser ce qui est tordu </a:t>
            </a:r>
            <a:r>
              <a:rPr lang="fr-FR" sz="1200" i="1" dirty="0" smtClean="0"/>
              <a:t>; </a:t>
            </a:r>
            <a:r>
              <a:rPr lang="fr-FR" sz="1200" b="1" i="1" dirty="0" smtClean="0"/>
              <a:t>regardez au contraire à quel point en sont arrivés les Francs, quelle alliance ils ont nouée, quels objectifs ils poursuivent, quelle aide ils se prêtent</a:t>
            </a:r>
            <a:r>
              <a:rPr lang="fr-FR" sz="1200" i="1" dirty="0" smtClean="0"/>
              <a:t>, […] Et tous ces efforts, ils ne les ont fournis que </a:t>
            </a:r>
            <a:r>
              <a:rPr lang="fr-FR" sz="1200" b="1" i="1" dirty="0" smtClean="0"/>
              <a:t>par pur zèle envers celui qu'ils adorent, pour défendre jalousement leur foi. </a:t>
            </a:r>
            <a:r>
              <a:rPr lang="fr-FR" sz="1200" i="1" dirty="0" smtClean="0"/>
              <a:t>[…] Les musulmans, en revanche, se sont relâchés et démoralisés. Devenus négligents et paresseux, ils se complaisent dans une surprise impuissante et perdent toute ardeur. […] </a:t>
            </a:r>
            <a:r>
              <a:rPr lang="fr-FR" sz="1200" b="1" i="1" dirty="0" smtClean="0"/>
              <a:t>C'est pourtant le moment de combler tout retard, de rassembler tous ceux, proches ou lointains, qui ont du sang dans les veines.</a:t>
            </a:r>
            <a:r>
              <a:rPr lang="fr-FR" sz="1200" i="1" dirty="0" smtClean="0"/>
              <a:t> Mais, grâce à Dieu, nous avons confiance dans le secours qu'Il nous enverra ; nous avons confiance en Lui du fond de notre âme et de notre dévotion : </a:t>
            </a:r>
            <a:r>
              <a:rPr lang="fr-FR" sz="1200" b="1" i="1" dirty="0" smtClean="0"/>
              <a:t>s'il Lui plaît, les mécréants périront et les croyants obtiendront sécurité et salut.</a:t>
            </a:r>
          </a:p>
          <a:p>
            <a:pPr>
              <a:lnSpc>
                <a:spcPct val="150000"/>
              </a:lnSpc>
              <a:spcBef>
                <a:spcPts val="0"/>
              </a:spcBef>
              <a:spcAft>
                <a:spcPts val="0"/>
              </a:spcAft>
              <a:buNone/>
            </a:pPr>
            <a:r>
              <a:rPr lang="fr-FR" sz="1200" i="1" dirty="0" smtClean="0"/>
              <a:t>	</a:t>
            </a:r>
            <a:r>
              <a:rPr lang="fr-FR" sz="1200" dirty="0" smtClean="0"/>
              <a:t>Abû </a:t>
            </a:r>
            <a:r>
              <a:rPr lang="fr-FR" sz="1200" dirty="0" err="1" smtClean="0"/>
              <a:t>Shâma</a:t>
            </a:r>
            <a:r>
              <a:rPr lang="fr-FR" sz="1200" dirty="0" smtClean="0"/>
              <a:t>, II, 148., Extrait de F. Gabrieli, </a:t>
            </a:r>
            <a:r>
              <a:rPr lang="fr-FR" sz="1200" i="1" dirty="0" smtClean="0"/>
              <a:t>Chroniques arabes des croisades</a:t>
            </a:r>
            <a:r>
              <a:rPr lang="fr-FR" sz="1200" dirty="0" smtClean="0"/>
              <a:t>, </a:t>
            </a:r>
            <a:r>
              <a:rPr lang="fr-FR" sz="1200" dirty="0" err="1" smtClean="0"/>
              <a:t>Sindbad</a:t>
            </a:r>
            <a:r>
              <a:rPr lang="fr-FR" sz="1200" dirty="0" smtClean="0"/>
              <a:t>,1977</a:t>
            </a:r>
            <a:endParaRPr lang="fr-FR" sz="1200" dirty="0"/>
          </a:p>
        </p:txBody>
      </p:sp>
      <p:sp>
        <p:nvSpPr>
          <p:cNvPr id="11" name="CasellaDiTesto 10"/>
          <p:cNvSpPr txBox="1"/>
          <p:nvPr/>
        </p:nvSpPr>
        <p:spPr>
          <a:xfrm>
            <a:off x="6770913" y="729342"/>
            <a:ext cx="4942115" cy="6093976"/>
          </a:xfrm>
          <a:prstGeom prst="rect">
            <a:avLst/>
          </a:prstGeom>
          <a:noFill/>
        </p:spPr>
        <p:txBody>
          <a:bodyPr wrap="square" rtlCol="0">
            <a:spAutoFit/>
          </a:bodyPr>
          <a:lstStyle/>
          <a:p>
            <a:pPr>
              <a:lnSpc>
                <a:spcPct val="150000"/>
              </a:lnSpc>
            </a:pPr>
            <a:r>
              <a:rPr lang="fr-FR" sz="1300" b="1" i="1" dirty="0" smtClean="0"/>
              <a:t>L'Islam demandait en mariage Jérusalem, prompt à apporter des vies en cadeau de noces</a:t>
            </a:r>
            <a:r>
              <a:rPr lang="fr-FR" sz="1300" i="1" dirty="0" smtClean="0"/>
              <a:t>, des bienfaits pour la délivrer de ses malheurs, un visage heureux pour chasser les faces couronnées.  	</a:t>
            </a:r>
          </a:p>
          <a:p>
            <a:pPr>
              <a:lnSpc>
                <a:spcPct val="150000"/>
              </a:lnSpc>
            </a:pPr>
            <a:r>
              <a:rPr lang="fr-FR" sz="1300" b="1" i="1" dirty="0" smtClean="0"/>
              <a:t>En réponse au cri de douleur poussé par le Rocher   qui appelait au secours contre l'ennemi, résonnait un écho rapide qui allait</a:t>
            </a:r>
            <a:r>
              <a:rPr lang="fr-FR" sz="1300" i="1" dirty="0" smtClean="0"/>
              <a:t> faire briller à nouveau les lampes dans son ciel</a:t>
            </a:r>
            <a:r>
              <a:rPr lang="fr-FR" sz="1300" b="1" i="1" dirty="0" smtClean="0"/>
              <a:t>, ramener la foi dans la ville devenue étrangère à sa patrie et la restituer à sa tranquille demeure en chassant d'al-</a:t>
            </a:r>
            <a:r>
              <a:rPr lang="fr-FR" sz="1300" b="1" i="1" dirty="0" err="1" smtClean="0"/>
              <a:t>Aqsâ</a:t>
            </a:r>
            <a:r>
              <a:rPr lang="fr-FR" sz="1300" b="1" i="1" dirty="0" smtClean="0"/>
              <a:t>  ceux que Dieu allait chasser avec sa malédiction</a:t>
            </a:r>
            <a:r>
              <a:rPr lang="fr-FR" sz="1300" i="1" dirty="0" smtClean="0"/>
              <a:t>. On marchait pour passer la bride à Jérusalem devenue rebelle ; </a:t>
            </a:r>
            <a:r>
              <a:rPr lang="fr-FR" sz="1300" b="1" i="1" dirty="0" smtClean="0"/>
              <a:t>pour y faire taire le bruit des cloches chrétiennes et retentir l'appel islamique à la prière, pour que les mains de la foi en chassent celles des Infidèles, pour la purifier des salissures de leur race, des ordures de cette humanité inférieure</a:t>
            </a:r>
            <a:r>
              <a:rPr lang="fr-FR" sz="1300" i="1" dirty="0" smtClean="0"/>
              <a:t>, pour réduire leur esprit au silence en rendant muets leurs clochers. La nouvelle vola jusqu'à Jérusalem ; le cœur des occupants sursauta d'effroi.</a:t>
            </a:r>
          </a:p>
          <a:p>
            <a:pPr>
              <a:lnSpc>
                <a:spcPct val="150000"/>
              </a:lnSpc>
            </a:pPr>
            <a:r>
              <a:rPr lang="fr-FR" sz="1300" dirty="0" err="1" smtClean="0"/>
              <a:t>lmâd</a:t>
            </a:r>
            <a:r>
              <a:rPr lang="fr-FR" sz="1300" dirty="0" smtClean="0"/>
              <a:t> ad-</a:t>
            </a:r>
            <a:r>
              <a:rPr lang="fr-FR" sz="1300" dirty="0" err="1" smtClean="0"/>
              <a:t>Dîn</a:t>
            </a:r>
            <a:r>
              <a:rPr lang="fr-FR" sz="1300" dirty="0" smtClean="0"/>
              <a:t>,</a:t>
            </a:r>
            <a:r>
              <a:rPr lang="fr-FR" sz="1300" i="1" dirty="0" smtClean="0"/>
              <a:t> </a:t>
            </a:r>
            <a:r>
              <a:rPr lang="fr-FR" sz="1300" dirty="0" smtClean="0"/>
              <a:t>Extrait de </a:t>
            </a:r>
            <a:r>
              <a:rPr lang="fr-FR" sz="1300" dirty="0" err="1" smtClean="0"/>
              <a:t>F.Gabrieli</a:t>
            </a:r>
            <a:r>
              <a:rPr lang="fr-FR" sz="1300" i="1" dirty="0" smtClean="0"/>
              <a:t>, Chroniques arabes des croisades</a:t>
            </a:r>
            <a:endParaRPr lang="it-IT" sz="13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034144" y="0"/>
            <a:ext cx="9601200" cy="685800"/>
          </a:xfrm>
        </p:spPr>
        <p:txBody>
          <a:bodyPr anchor="ctr">
            <a:normAutofit/>
          </a:bodyPr>
          <a:lstStyle/>
          <a:p>
            <a:r>
              <a:rPr lang="fr-FR" sz="1600" dirty="0" smtClean="0"/>
              <a:t>Saladin et les prisonniers chrétiens			Saladin et les templiers et les hospitaliers 				</a:t>
            </a:r>
            <a:endParaRPr lang="it-IT" sz="1600" dirty="0"/>
          </a:p>
        </p:txBody>
      </p:sp>
      <p:sp>
        <p:nvSpPr>
          <p:cNvPr id="6" name="CasellaDiTesto 5"/>
          <p:cNvSpPr txBox="1"/>
          <p:nvPr/>
        </p:nvSpPr>
        <p:spPr>
          <a:xfrm>
            <a:off x="783772" y="4955599"/>
            <a:ext cx="4876799" cy="1107996"/>
          </a:xfrm>
          <a:prstGeom prst="rect">
            <a:avLst/>
          </a:prstGeom>
          <a:noFill/>
        </p:spPr>
        <p:txBody>
          <a:bodyPr wrap="square" rtlCol="0">
            <a:spAutoFit/>
          </a:bodyPr>
          <a:lstStyle/>
          <a:p>
            <a:pPr>
              <a:lnSpc>
                <a:spcPct val="150000"/>
              </a:lnSpc>
            </a:pPr>
            <a:r>
              <a:rPr lang="fr-FR" sz="1100" b="1" dirty="0" smtClean="0"/>
              <a:t> IIIe croisade : Saladin et des prisonniers chrétiens</a:t>
            </a:r>
          </a:p>
          <a:p>
            <a:pPr>
              <a:lnSpc>
                <a:spcPct val="150000"/>
              </a:lnSpc>
            </a:pPr>
            <a:r>
              <a:rPr lang="fr-FR" sz="1100" i="1" dirty="0" smtClean="0"/>
              <a:t>Roman de Godefroi de Bouillon et de Saladin, </a:t>
            </a:r>
            <a:r>
              <a:rPr lang="fr-FR" sz="1100" dirty="0" smtClean="0"/>
              <a:t>Manuscrit enluminé sur parchemin Paris, 1337. </a:t>
            </a:r>
            <a:r>
              <a:rPr lang="fr-FR" sz="1100" dirty="0" err="1" smtClean="0"/>
              <a:t>BnF</a:t>
            </a:r>
            <a:r>
              <a:rPr lang="fr-FR" sz="1100" dirty="0" smtClean="0"/>
              <a:t>, Manuscrits </a:t>
            </a:r>
          </a:p>
          <a:p>
            <a:pPr>
              <a:lnSpc>
                <a:spcPct val="150000"/>
              </a:lnSpc>
            </a:pPr>
            <a:r>
              <a:rPr lang="fr-FR" sz="1100" dirty="0" smtClean="0"/>
              <a:t>	  		 </a:t>
            </a:r>
          </a:p>
        </p:txBody>
      </p:sp>
      <p:pic>
        <p:nvPicPr>
          <p:cNvPr id="10" name="Segnaposto contenuto 9" descr="saladin_prisonnier chrétiens.jpg"/>
          <p:cNvPicPr>
            <a:picLocks noGrp="1" noChangeAspect="1"/>
          </p:cNvPicPr>
          <p:nvPr>
            <p:ph sz="half" idx="1"/>
          </p:nvPr>
        </p:nvPicPr>
        <p:blipFill>
          <a:blip r:embed="rId2"/>
          <a:stretch>
            <a:fillRect/>
          </a:stretch>
        </p:blipFill>
        <p:spPr>
          <a:xfrm>
            <a:off x="1099457" y="1739810"/>
            <a:ext cx="4448175" cy="2844979"/>
          </a:xfrm>
        </p:spPr>
      </p:pic>
      <p:sp>
        <p:nvSpPr>
          <p:cNvPr id="11" name="Segnaposto contenuto 10"/>
          <p:cNvSpPr>
            <a:spLocks noGrp="1"/>
          </p:cNvSpPr>
          <p:nvPr>
            <p:ph sz="half" idx="2"/>
          </p:nvPr>
        </p:nvSpPr>
        <p:spPr>
          <a:xfrm>
            <a:off x="6193972" y="598715"/>
            <a:ext cx="5791200" cy="5965370"/>
          </a:xfrm>
        </p:spPr>
        <p:txBody>
          <a:bodyPr>
            <a:noAutofit/>
          </a:bodyPr>
          <a:lstStyle/>
          <a:p>
            <a:pPr>
              <a:lnSpc>
                <a:spcPct val="170000"/>
              </a:lnSpc>
              <a:buNone/>
            </a:pPr>
            <a:r>
              <a:rPr lang="fr-FR" sz="1200" i="1" dirty="0" smtClean="0"/>
              <a:t>	Au matin du lundi 17 </a:t>
            </a:r>
            <a:r>
              <a:rPr lang="fr-FR" sz="1200" i="1" dirty="0" err="1" smtClean="0"/>
              <a:t>rabî</a:t>
            </a:r>
            <a:r>
              <a:rPr lang="fr-FR" sz="1200" i="1" dirty="0" smtClean="0"/>
              <a:t> II, </a:t>
            </a:r>
            <a:r>
              <a:rPr lang="fr-FR" sz="1200" b="1" i="1" dirty="0" smtClean="0"/>
              <a:t>deux jours après la victoire, le sultan fit rechercher les templiers et les hospitaliers qui étaient prisonniers, et dit: "Je purifierai la terre de ces deux races impures."</a:t>
            </a:r>
            <a:r>
              <a:rPr lang="fr-FR" sz="1200" i="1" dirty="0" smtClean="0"/>
              <a:t> Il promit donc cinquante dinars à toute personne qui lui en amènerait un ; aussitôt l'armée en amena des centaines. Il ordonna de les décapiter, aimant mieux les tuer que les réduire en esclavage. Il y avait auprès de lui toute une troupe de docteurs et de sûfi et un certain nombre de dévots et d'ascètes : chacun réclama l'honneur d'en tuer un, dégaina son épée et se retroussa la manche. Le Sultan était assis, le visage radieux, tandis que ceux des Infidèles étaient sombres ; les troupes se tenaient en rang, les émirs tout droits en double file. […] </a:t>
            </a:r>
            <a:r>
              <a:rPr lang="fr-FR" sz="1200" b="1" i="1" dirty="0" smtClean="0"/>
              <a:t>Que d'œuvres pies assurées par une tête coupée ! Que de lames teintes de sang après la victoire tant rêvée, que de lances brandies contre le lion capturé, que de blessures guéries par la blessure d'un templier ! Le sultan, insuffla énergie aux chefs qu'il a renforcés ; il a déployé ses drapeaux pour dissiper les malheurs, il a terrassé l'Infidélité pour revivifier l'islam </a:t>
            </a:r>
            <a:r>
              <a:rPr lang="fr-FR" sz="1200" i="1" dirty="0" smtClean="0"/>
              <a:t>; il a détruit l'associationnisme pour construire le monothéisme ; il s'est engagé entier pour dégager la communauté des croyants et il a abattu les ennemis pour défendre les amis</a:t>
            </a:r>
            <a:r>
              <a:rPr lang="fr-FR" sz="1200" dirty="0" smtClean="0"/>
              <a:t>. [</a:t>
            </a:r>
            <a:r>
              <a:rPr lang="fr-FR" sz="1200" dirty="0" err="1" smtClean="0"/>
              <a:t>lmâd</a:t>
            </a:r>
            <a:r>
              <a:rPr lang="fr-FR" sz="1200" dirty="0" smtClean="0"/>
              <a:t> ad-</a:t>
            </a:r>
            <a:r>
              <a:rPr lang="fr-FR" sz="1200" dirty="0" err="1" smtClean="0"/>
              <a:t>Dîn</a:t>
            </a:r>
            <a:r>
              <a:rPr lang="fr-FR" sz="1200" dirty="0" smtClean="0"/>
              <a:t>, Extrait de </a:t>
            </a:r>
            <a:r>
              <a:rPr lang="fr-FR" sz="1200" dirty="0" err="1" smtClean="0"/>
              <a:t>F.Gabrieli</a:t>
            </a:r>
            <a:r>
              <a:rPr lang="fr-FR" sz="1200" dirty="0" smtClean="0"/>
              <a:t>, </a:t>
            </a:r>
            <a:r>
              <a:rPr lang="fr-FR" sz="1200" i="1" dirty="0" smtClean="0"/>
              <a:t>Chroniques arabes des croisades]</a:t>
            </a:r>
          </a:p>
          <a:p>
            <a:pPr>
              <a:lnSpc>
                <a:spcPct val="170000"/>
              </a:lnSpc>
              <a:buNone/>
            </a:pPr>
            <a:endParaRPr lang="it-IT" sz="1200"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fr-FR" sz="2400" dirty="0" smtClean="0"/>
              <a:t>5. La vision de l’autre</a:t>
            </a:r>
            <a:endParaRPr lang="fr-FR" sz="2400" dirty="0"/>
          </a:p>
        </p:txBody>
      </p:sp>
      <p:sp>
        <p:nvSpPr>
          <p:cNvPr id="4" name="Segnaposto testo 3"/>
          <p:cNvSpPr>
            <a:spLocks noGrp="1"/>
          </p:cNvSpPr>
          <p:nvPr>
            <p:ph type="body" idx="1"/>
          </p:nvPr>
        </p:nvSpPr>
        <p:spPr>
          <a:xfrm>
            <a:off x="765025" y="4216327"/>
            <a:ext cx="9612971" cy="1542215"/>
          </a:xfrm>
        </p:spPr>
        <p:txBody>
          <a:bodyPr>
            <a:normAutofit/>
          </a:bodyPr>
          <a:lstStyle/>
          <a:p>
            <a:pPr>
              <a:lnSpc>
                <a:spcPct val="150000"/>
              </a:lnSpc>
            </a:pPr>
            <a:r>
              <a:rPr lang="fr-FR" sz="1600" dirty="0" smtClean="0"/>
              <a:t>Quelle vision de l'Autre se dégage des différents textes ?</a:t>
            </a:r>
          </a:p>
          <a:p>
            <a:pPr>
              <a:lnSpc>
                <a:spcPct val="150000"/>
              </a:lnSpc>
            </a:pPr>
            <a:r>
              <a:rPr lang="fr-FR" sz="1600" dirty="0" smtClean="0"/>
              <a:t>Comment l'expliquer ? </a:t>
            </a:r>
            <a:endParaRPr lang="it-IT"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p:cNvSpPr>
            <a:spLocks noGrp="1"/>
          </p:cNvSpPr>
          <p:nvPr>
            <p:ph type="title"/>
          </p:nvPr>
        </p:nvSpPr>
        <p:spPr>
          <a:xfrm>
            <a:off x="990599" y="228600"/>
            <a:ext cx="11016344" cy="500743"/>
          </a:xfrm>
        </p:spPr>
        <p:txBody>
          <a:bodyPr>
            <a:normAutofit/>
          </a:bodyPr>
          <a:lstStyle/>
          <a:p>
            <a:pPr>
              <a:lnSpc>
                <a:spcPct val="150000"/>
              </a:lnSpc>
            </a:pPr>
            <a:r>
              <a:rPr lang="fr-FR" sz="1600" dirty="0" smtClean="0">
                <a:solidFill>
                  <a:srgbClr val="C00000"/>
                </a:solidFill>
              </a:rPr>
              <a:t> L'opinion de la fille de l'empereur byzantin sur les croisés</a:t>
            </a:r>
            <a:r>
              <a:rPr lang="fr-FR" sz="1600" dirty="0" smtClean="0">
                <a:solidFill>
                  <a:schemeClr val="tx1"/>
                </a:solidFill>
              </a:rPr>
              <a:t>	</a:t>
            </a:r>
            <a:r>
              <a:rPr lang="fr-FR" sz="1600" dirty="0" smtClean="0">
                <a:solidFill>
                  <a:srgbClr val="C00000"/>
                </a:solidFill>
              </a:rPr>
              <a:t>     Prière musulmane dans une église chrétienne</a:t>
            </a:r>
            <a:endParaRPr lang="fr-FR" sz="1600" i="1" dirty="0" smtClean="0">
              <a:solidFill>
                <a:srgbClr val="C00000"/>
              </a:solidFill>
            </a:endParaRPr>
          </a:p>
        </p:txBody>
      </p:sp>
      <p:sp>
        <p:nvSpPr>
          <p:cNvPr id="7" name="Segnaposto contenuto 6"/>
          <p:cNvSpPr>
            <a:spLocks noGrp="1"/>
          </p:cNvSpPr>
          <p:nvPr>
            <p:ph sz="half" idx="1"/>
          </p:nvPr>
        </p:nvSpPr>
        <p:spPr>
          <a:xfrm>
            <a:off x="794656" y="762001"/>
            <a:ext cx="4833257" cy="5682342"/>
          </a:xfrm>
        </p:spPr>
        <p:txBody>
          <a:bodyPr anchor="ctr">
            <a:noAutofit/>
          </a:bodyPr>
          <a:lstStyle/>
          <a:p>
            <a:pPr>
              <a:lnSpc>
                <a:spcPct val="150000"/>
              </a:lnSpc>
              <a:spcBef>
                <a:spcPts val="0"/>
              </a:spcBef>
              <a:spcAft>
                <a:spcPts val="0"/>
              </a:spcAft>
              <a:buNone/>
            </a:pPr>
            <a:r>
              <a:rPr lang="fr-FR" sz="1200" dirty="0" smtClean="0"/>
              <a:t>	</a:t>
            </a:r>
            <a:r>
              <a:rPr lang="fr-FR" sz="1200" i="1" dirty="0" smtClean="0"/>
              <a:t>Après avoir prêté serment à l'empereur byzantin, </a:t>
            </a:r>
            <a:r>
              <a:rPr lang="fr-FR" sz="1200" b="1" i="1" dirty="0" smtClean="0"/>
              <a:t>Bohémond de Tarente </a:t>
            </a:r>
            <a:r>
              <a:rPr lang="fr-FR" sz="1200" i="1" dirty="0" smtClean="0"/>
              <a:t>refuse les cadeaux qu'il avait d'abord acceptés.</a:t>
            </a:r>
          </a:p>
          <a:p>
            <a:pPr>
              <a:lnSpc>
                <a:spcPct val="150000"/>
              </a:lnSpc>
              <a:spcBef>
                <a:spcPts val="0"/>
              </a:spcBef>
              <a:spcAft>
                <a:spcPts val="0"/>
              </a:spcAft>
              <a:buNone/>
            </a:pPr>
            <a:r>
              <a:rPr lang="fr-FR" sz="1200" i="1" dirty="0" smtClean="0"/>
              <a:t>	Le basileus, qui connaissait le caractère inconstant des Latins, répliqua par ce dicton populaire : "Qu'une mauvaise chose retourne à son auteur." Quand Bohémond entend cette réponse et voit revenir en toute diligence les porteurs chargés de leur fardeau, il change à nouveau d'avis et lui qui, un moment plus tôt, avait renvoyé ces présents en manifestant de l'indignation, montre à ceux qui reviennent un visage souriant, telle une pieuvre qui se transforme en un instant. </a:t>
            </a:r>
            <a:r>
              <a:rPr lang="fr-FR" sz="1200" b="1" i="1" dirty="0" smtClean="0"/>
              <a:t>[…] Il était en effet mal intentionné : parce qu'il ne possédait pas le moindre apanage, il quittait son pays ; en apparence pour vénérer le Saint-Sépulcre , en réalité dans l'intention de se tailler une principauté, et mieux, si cela lui était possible, de s'emparer de l'empire des Romains  lui-même suivant les conseils de son père ;</a:t>
            </a:r>
            <a:r>
              <a:rPr lang="fr-FR" sz="1200" i="1" dirty="0" smtClean="0"/>
              <a:t> mais à qui veut faire jouer tous les ressorts, comme dit le proverbe, il faut beaucoup d'argent.</a:t>
            </a:r>
          </a:p>
          <a:p>
            <a:pPr algn="r">
              <a:lnSpc>
                <a:spcPct val="150000"/>
              </a:lnSpc>
              <a:spcBef>
                <a:spcPts val="0"/>
              </a:spcBef>
              <a:spcAft>
                <a:spcPts val="0"/>
              </a:spcAft>
              <a:buNone/>
            </a:pPr>
            <a:r>
              <a:rPr lang="fr-FR" sz="1200" dirty="0" smtClean="0"/>
              <a:t>Anne Comnène</a:t>
            </a:r>
            <a:r>
              <a:rPr lang="fr-FR" sz="1200" i="1" dirty="0" smtClean="0"/>
              <a:t>, </a:t>
            </a:r>
            <a:r>
              <a:rPr lang="fr-FR" sz="1200" i="1" dirty="0" err="1" smtClean="0"/>
              <a:t>Alexiade</a:t>
            </a:r>
            <a:r>
              <a:rPr lang="fr-FR" sz="1200" i="1" dirty="0" smtClean="0"/>
              <a:t>, </a:t>
            </a:r>
            <a:r>
              <a:rPr lang="fr-FR" sz="1200" dirty="0" smtClean="0"/>
              <a:t>Livre X.</a:t>
            </a:r>
          </a:p>
          <a:p>
            <a:pPr>
              <a:lnSpc>
                <a:spcPct val="150000"/>
              </a:lnSpc>
              <a:spcBef>
                <a:spcPts val="0"/>
              </a:spcBef>
              <a:spcAft>
                <a:spcPts val="0"/>
              </a:spcAft>
              <a:buNone/>
            </a:pPr>
            <a:r>
              <a:rPr lang="fr-FR" sz="1200" i="1" dirty="0" smtClean="0"/>
              <a:t>	</a:t>
            </a:r>
            <a:endParaRPr lang="fr-FR" sz="1200" dirty="0"/>
          </a:p>
        </p:txBody>
      </p:sp>
      <p:sp>
        <p:nvSpPr>
          <p:cNvPr id="11" name="CasellaDiTesto 10"/>
          <p:cNvSpPr txBox="1"/>
          <p:nvPr/>
        </p:nvSpPr>
        <p:spPr>
          <a:xfrm>
            <a:off x="6542314" y="666053"/>
            <a:ext cx="5508172" cy="6093976"/>
          </a:xfrm>
          <a:prstGeom prst="rect">
            <a:avLst/>
          </a:prstGeom>
          <a:noFill/>
        </p:spPr>
        <p:txBody>
          <a:bodyPr wrap="square" rtlCol="0">
            <a:spAutoFit/>
          </a:bodyPr>
          <a:lstStyle/>
          <a:p>
            <a:pPr>
              <a:lnSpc>
                <a:spcPct val="150000"/>
              </a:lnSpc>
            </a:pPr>
            <a:r>
              <a:rPr lang="fr-FR" sz="1300" b="1" i="1" dirty="0" smtClean="0"/>
              <a:t>Voici un trait de la grossièreté des Francs </a:t>
            </a:r>
            <a:r>
              <a:rPr lang="fr-FR" sz="1300" i="1" dirty="0" smtClean="0"/>
              <a:t>– Dieu les confonde ! Alors que je visitais Jérusalem, j'avais l'habitude d'entrer dans la mosquée al-</a:t>
            </a:r>
            <a:r>
              <a:rPr lang="fr-FR" sz="1300" i="1" dirty="0" err="1" smtClean="0"/>
              <a:t>Aqsâ</a:t>
            </a:r>
            <a:r>
              <a:rPr lang="fr-FR" sz="1300" i="1" dirty="0" smtClean="0"/>
              <a:t>. Sur un des côtés, il y a un petit oratoire où les Francs avaient installé une église. Quand donc j'entrai dans la mosquée al-</a:t>
            </a:r>
            <a:r>
              <a:rPr lang="fr-FR" sz="1300" i="1" dirty="0" err="1" smtClean="0"/>
              <a:t>Aqsâ</a:t>
            </a:r>
            <a:r>
              <a:rPr lang="fr-FR" sz="1300" i="1" dirty="0" smtClean="0"/>
              <a:t>, lieu de séjour de mes amis templiers, ils mettaient à ma disposition ce petit oratoire pour que j'y fasse mes prières. </a:t>
            </a:r>
            <a:r>
              <a:rPr lang="fr-FR" sz="1300" b="1" i="1" dirty="0" smtClean="0"/>
              <a:t>Un jour j'entrai, je dis la formule Allah </a:t>
            </a:r>
            <a:r>
              <a:rPr lang="fr-FR" sz="1300" b="1" i="1" dirty="0" err="1" smtClean="0"/>
              <a:t>akbar</a:t>
            </a:r>
            <a:r>
              <a:rPr lang="fr-FR" sz="1300" b="1" i="1" dirty="0" smtClean="0"/>
              <a:t> [Allah est grand] et j'allais commencer la prière lorsqu'un Franc se précipita sur moi, m'empoigna et me tourna le visage vers l'Orient en disant : "C'est ainsi qu'on prie !" </a:t>
            </a:r>
            <a:r>
              <a:rPr lang="fr-FR" sz="1300" i="1" dirty="0" smtClean="0"/>
              <a:t>Tout de suite, des templiers intervinrent et l'éloignèrent de moi tandis que je retournai à ma prière. Mais l'homme, profitant d'un moment d'inattention, se jeta à nouveau sur moi, me tourna le visage vers l'Orient en répétant : "C'est ainsi qu'on prie !" De nouveau, les templiers intervinrent, l'éloignèrent et s'excusèrent envers moi en disant : "C'est un étranger ! Il vient d'arriver du pays des Francs et il n'a jamais vu quelqu'un prier sans se tourner vers l'Orient." "J'ai assez prié", répondis-je, et </a:t>
            </a:r>
            <a:r>
              <a:rPr lang="fr-FR" sz="1300" b="1" i="1" dirty="0" smtClean="0"/>
              <a:t>je sortis stupéfié par ce démon qui s'était tellement irrité et agité en me voyant prier en direction de la qibla [La Mecque]. </a:t>
            </a:r>
          </a:p>
          <a:p>
            <a:pPr>
              <a:lnSpc>
                <a:spcPct val="150000"/>
              </a:lnSpc>
            </a:pPr>
            <a:r>
              <a:rPr lang="fr-FR" sz="1300" i="1" dirty="0" err="1" smtClean="0"/>
              <a:t>Usâma</a:t>
            </a:r>
            <a:r>
              <a:rPr lang="fr-FR" sz="1300" i="1" dirty="0" smtClean="0"/>
              <a:t>, Des enseignements de la vie. Extrait de F. Gabrieli dans Chroniques arabes des croisades</a:t>
            </a:r>
            <a:endParaRPr lang="it-IT" sz="1300" i="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034144" y="0"/>
            <a:ext cx="9601200" cy="685800"/>
          </a:xfrm>
        </p:spPr>
        <p:txBody>
          <a:bodyPr anchor="ctr">
            <a:normAutofit/>
          </a:bodyPr>
          <a:lstStyle/>
          <a:p>
            <a:r>
              <a:rPr lang="fr-FR" sz="1600" dirty="0" err="1" smtClean="0"/>
              <a:t>Scienze</a:t>
            </a:r>
            <a:r>
              <a:rPr lang="fr-FR" sz="1600" dirty="0" smtClean="0"/>
              <a:t> </a:t>
            </a:r>
            <a:r>
              <a:rPr lang="fr-FR" sz="1600" dirty="0" err="1" smtClean="0"/>
              <a:t>mediche</a:t>
            </a:r>
            <a:r>
              <a:rPr lang="fr-FR" sz="1600" dirty="0" smtClean="0"/>
              <a:t> a </a:t>
            </a:r>
            <a:r>
              <a:rPr lang="fr-FR" sz="1600" dirty="0" err="1" smtClean="0"/>
              <a:t>confronto</a:t>
            </a:r>
            <a:r>
              <a:rPr lang="fr-FR" sz="1600" dirty="0" smtClean="0"/>
              <a:t> 				Les Bédouins vus par Joinville				</a:t>
            </a:r>
            <a:endParaRPr lang="it-IT" sz="1600" dirty="0"/>
          </a:p>
        </p:txBody>
      </p:sp>
      <p:sp>
        <p:nvSpPr>
          <p:cNvPr id="11" name="Segnaposto contenuto 10"/>
          <p:cNvSpPr>
            <a:spLocks noGrp="1"/>
          </p:cNvSpPr>
          <p:nvPr>
            <p:ph sz="half" idx="2"/>
          </p:nvPr>
        </p:nvSpPr>
        <p:spPr>
          <a:xfrm>
            <a:off x="6193972" y="598715"/>
            <a:ext cx="5791200" cy="5965370"/>
          </a:xfrm>
        </p:spPr>
        <p:txBody>
          <a:bodyPr>
            <a:noAutofit/>
          </a:bodyPr>
          <a:lstStyle/>
          <a:p>
            <a:pPr>
              <a:lnSpc>
                <a:spcPct val="170000"/>
              </a:lnSpc>
              <a:spcBef>
                <a:spcPts val="0"/>
              </a:spcBef>
              <a:spcAft>
                <a:spcPts val="0"/>
              </a:spcAft>
              <a:buNone/>
            </a:pPr>
            <a:r>
              <a:rPr lang="fr-FR" sz="1200" i="1" dirty="0" smtClean="0"/>
              <a:t>	</a:t>
            </a:r>
            <a:r>
              <a:rPr lang="fr-FR" sz="1200" b="1" i="1" dirty="0" smtClean="0"/>
              <a:t>Les Bédouins ne demeurent ni dans des villages ni dans des cités, ni dans des châteaux, mais ils couchent toujours dans les champs. </a:t>
            </a:r>
            <a:r>
              <a:rPr lang="fr-FR" sz="1200" i="1" dirty="0" smtClean="0"/>
              <a:t>Et ils installent leurs serviteurs, leurs femmes, leurs enfants, le soir pour la nuit, ou de jour quand il fait mauvais temps, </a:t>
            </a:r>
            <a:r>
              <a:rPr lang="fr-FR" sz="1200" b="1" i="1" dirty="0" smtClean="0"/>
              <a:t>dans des sortes de tentes</a:t>
            </a:r>
            <a:r>
              <a:rPr lang="fr-FR" sz="1200" i="1" dirty="0" smtClean="0"/>
              <a:t> qu'ils font avec des cercles de tonneaux attachés à des perches, comme sont les chars des dames ; et sur ces cercles ils jettent des peaux de mouton que l'on appelle peaux de Damas, préparées dans l'alun. </a:t>
            </a:r>
            <a:r>
              <a:rPr lang="fr-FR" sz="1200" b="1" i="1" dirty="0" smtClean="0"/>
              <a:t>Les Bédouins eux-mêmes ont de grandes pelisses de ces peaux qui leur couvrent tout le corps, les jambes et les pieds.</a:t>
            </a:r>
          </a:p>
          <a:p>
            <a:pPr>
              <a:lnSpc>
                <a:spcPct val="170000"/>
              </a:lnSpc>
              <a:spcBef>
                <a:spcPts val="0"/>
              </a:spcBef>
              <a:spcAft>
                <a:spcPts val="0"/>
              </a:spcAft>
              <a:buNone/>
            </a:pPr>
            <a:r>
              <a:rPr lang="fr-FR" sz="1200" i="1" dirty="0" smtClean="0"/>
              <a:t>	Quand il pleut le soir et qu'il fait mauvais temps la nuit, ils s'enveloppent dans leurs pelisses, et ôtent les brides de leurs chevaux, et les laissent paître à côté d'eux. Et quand arrive le lendemain, ils étendent leurs pelisses au soleil et les frottent et les apprêtent ; et il ne paraîtra en rien qu'elles aient été mouillées le soir. </a:t>
            </a:r>
            <a:r>
              <a:rPr lang="fr-FR" sz="1200" b="1" i="1" dirty="0" smtClean="0"/>
              <a:t>Leur croyance est telle que nul ne peut mourir qu'à son jour, et pour cela ils ne veulent pas d'armes défensives. Et quand ils maudissent leurs enfants, ils leur disent : "Ainsi sois-tu maudit comme le Franc qui s'arme par peur de la mort." Au combat, ils ne portent rien que l'épée et la lance</a:t>
            </a:r>
            <a:r>
              <a:rPr lang="fr-FR" sz="1200" dirty="0" smtClean="0"/>
              <a:t>. [Jean de Joinville, </a:t>
            </a:r>
            <a:r>
              <a:rPr lang="fr-FR" sz="1200" i="1" dirty="0" smtClean="0"/>
              <a:t>Vie de Saint Louis, XIV s.] </a:t>
            </a:r>
          </a:p>
          <a:p>
            <a:pPr>
              <a:lnSpc>
                <a:spcPct val="170000"/>
              </a:lnSpc>
              <a:buNone/>
            </a:pPr>
            <a:endParaRPr lang="it-IT" sz="1200" i="1" dirty="0"/>
          </a:p>
        </p:txBody>
      </p:sp>
      <p:sp>
        <p:nvSpPr>
          <p:cNvPr id="9" name="Segnaposto contenuto 8"/>
          <p:cNvSpPr>
            <a:spLocks noGrp="1"/>
          </p:cNvSpPr>
          <p:nvPr>
            <p:ph sz="half" idx="1"/>
          </p:nvPr>
        </p:nvSpPr>
        <p:spPr>
          <a:xfrm>
            <a:off x="620485" y="653143"/>
            <a:ext cx="5268686" cy="6204857"/>
          </a:xfrm>
        </p:spPr>
        <p:txBody>
          <a:bodyPr>
            <a:normAutofit fontScale="55000" lnSpcReduction="20000"/>
          </a:bodyPr>
          <a:lstStyle/>
          <a:p>
            <a:pPr>
              <a:lnSpc>
                <a:spcPct val="170000"/>
              </a:lnSpc>
              <a:spcBef>
                <a:spcPts val="0"/>
              </a:spcBef>
              <a:spcAft>
                <a:spcPts val="0"/>
              </a:spcAft>
              <a:buNone/>
            </a:pPr>
            <a:r>
              <a:rPr lang="it-IT" i="1" dirty="0" smtClean="0"/>
              <a:t>	«Mi presentarono un cavaliere che aveva un ascesso alla gamba e una donna, afflitta da una consunzione. Feci un empiastro al cavaliere, e l'ascesso si aprì e migliorò, prescrissi una dieta alla donna, rinfrescandone il temperamento.</a:t>
            </a:r>
          </a:p>
          <a:p>
            <a:pPr>
              <a:lnSpc>
                <a:spcPct val="170000"/>
              </a:lnSpc>
              <a:spcBef>
                <a:spcPts val="0"/>
              </a:spcBef>
              <a:spcAft>
                <a:spcPts val="0"/>
              </a:spcAft>
              <a:buNone/>
            </a:pPr>
            <a:r>
              <a:rPr lang="it-IT" i="1" dirty="0" smtClean="0"/>
              <a:t>	Quand'ecco arrivare un medico franco, che disse: «Costui non sa affatto curarli!», e rivolto al cavaliere gli domandò: «Cosa preferisci, vivere con una gamba sola, o morire con due gambe?», e avendo quello risposto che preferiva vivere con una gamba sola, ordinò: «Conducetemi un cavaliere gagliardo, e un'ascia tagliente». Vennero cavaliere ed ascia, stando io lì presente. Colui adagiò la gamba su un ceppo di legno, e disse al cavaliere: «Dagli giù un gran colpo di ascia, che la tronchi di netto!» E quegli, sotto i miei occhi, la colpì d'un primo colpo, e, non essendosi troncata, d'un secondo colpo; il midollo della gamba schizzò via, e il paziente morì all'istante. Esaminata quindi la donna, disse: «Costei ha un demonio nel capo, che si è innamorato di lei. Tagliatele i capelli!» Glieli tagliarono, e quella tornò a mangiare dei loro cibi, aglio e senape, onde la consunzione le aumentò. «Il diavolo è entrato nella sua testa» sentenziò colui, e preso il rasoio le aprì la testa a croce, asportandone il cervello sino a far apparire l'osso del capo, che colui strofinò col sale; e la donna all'istante morì. A questo punto io domandai: «Avete più bisogno di me?» Risposero di no, e io me ne venni via, dopo aver imparato dalla loro medicina quel che prima ignoravo.»</a:t>
            </a:r>
          </a:p>
          <a:p>
            <a:pPr>
              <a:lnSpc>
                <a:spcPct val="170000"/>
              </a:lnSpc>
              <a:spcBef>
                <a:spcPts val="0"/>
              </a:spcBef>
              <a:spcAft>
                <a:spcPts val="0"/>
              </a:spcAft>
              <a:buNone/>
            </a:pPr>
            <a:r>
              <a:rPr lang="it-IT" i="1" dirty="0" smtClean="0"/>
              <a:t>	</a:t>
            </a:r>
            <a:r>
              <a:rPr lang="it-IT" dirty="0" err="1" smtClean="0"/>
              <a:t>Usâma</a:t>
            </a:r>
            <a:r>
              <a:rPr lang="it-IT" dirty="0" smtClean="0"/>
              <a:t>,Libro</a:t>
            </a:r>
            <a:r>
              <a:rPr lang="it-IT" i="1" dirty="0" smtClean="0"/>
              <a:t> dell’ammaestramento con gli esempi, in Storici arabi delle crociate</a:t>
            </a:r>
          </a:p>
          <a:p>
            <a:pPr>
              <a:lnSpc>
                <a:spcPct val="170000"/>
              </a:lnSpc>
            </a:pPr>
            <a:endParaRPr lang="it-IT" i="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Crop" id="{EC9488ED-E761-4D60-9AC4-764D1FE2C171}" vid="{CE19780C-D67D-4C13-9DE9-A52BC3BA51B4}"/>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TF00001241</Template>
  <TotalTime>4855</TotalTime>
  <Words>1951</Words>
  <Application>Microsoft Office PowerPoint</Application>
  <PresentationFormat>Personalizzato</PresentationFormat>
  <Paragraphs>126</Paragraphs>
  <Slides>25</Slides>
  <Notes>0</Notes>
  <HiddenSlides>0</HiddenSlides>
  <MMClips>0</MMClips>
  <ScaleCrop>false</ScaleCrop>
  <HeadingPairs>
    <vt:vector size="4" baseType="variant">
      <vt:variant>
        <vt:lpstr>Tema</vt:lpstr>
      </vt:variant>
      <vt:variant>
        <vt:i4>2</vt:i4>
      </vt:variant>
      <vt:variant>
        <vt:lpstr>Titoli diapositive</vt:lpstr>
      </vt:variant>
      <vt:variant>
        <vt:i4>25</vt:i4>
      </vt:variant>
    </vt:vector>
  </HeadingPairs>
  <TitlesOfParts>
    <vt:vector size="27" baseType="lpstr">
      <vt:lpstr>Crop</vt:lpstr>
      <vt:lpstr>Parcel</vt:lpstr>
      <vt:lpstr>la méditerranée au xiiè siècle: un carrefour de civilisation</vt:lpstr>
      <vt:lpstr>La Méditerranée (XI-XIII siècle)</vt:lpstr>
      <vt:lpstr>Leçon 3. L’expansion de la Chrétienté (XI-XIIIème s,)</vt:lpstr>
      <vt:lpstr>Presentazione standard di PowerPoint</vt:lpstr>
      <vt:lpstr>Presentazione standard di PowerPoint</vt:lpstr>
      <vt:lpstr>Qu’est-que Les croisades (XI-XIIIe s)</vt:lpstr>
      <vt:lpstr>La pratique du pèlerinage, le passage sacré (passagium)</vt:lpstr>
      <vt:lpstr>J. Le Goff, La nascita del Purgatorio,  1981</vt:lpstr>
      <vt:lpstr>Presentazione standard di PowerPoint</vt:lpstr>
      <vt:lpstr>1. Le lancement de la première croisade</vt:lpstr>
      <vt:lpstr>27 novembre 1095: L’appel à la Croisade de Urbain II </vt:lpstr>
      <vt:lpstr>Presentazione standard di PowerPoint</vt:lpstr>
      <vt:lpstr>Presentazione standard di PowerPoint</vt:lpstr>
      <vt:lpstr> La lettre encyclique de l'archevêque de Pise au pape </vt:lpstr>
      <vt:lpstr>2. La violence des croisades et ses raisons</vt:lpstr>
      <vt:lpstr> Saint Bernard justifie la violence des croisés</vt:lpstr>
      <vt:lpstr>La prise de Jérusalem vue par Guillaume de Tyr et par Ibn Al-Athir </vt:lpstr>
      <vt:lpstr>Le siège d’Antioche (1098)             Saint-Jean-d'Acre, supplice des Turcs (1191)</vt:lpstr>
      <vt:lpstr>3. Le Djihad</vt:lpstr>
      <vt:lpstr>Presentazione standard di PowerPoint</vt:lpstr>
      <vt:lpstr> Saladin appelle à la contre-croisade, par Abû Shâma La reconquête de Jérusalem vue par Imâd ad-Dîn</vt:lpstr>
      <vt:lpstr>Saladin et les prisonniers chrétiens   Saladin et les templiers et les hospitaliers     </vt:lpstr>
      <vt:lpstr>5. La vision de l’autre</vt:lpstr>
      <vt:lpstr> L'opinion de la fille de l'empereur byzantin sur les croisés      Prière musulmane dans une église chrétienne</vt:lpstr>
      <vt:lpstr>Scienze mediche a confronto     Les Bédouins vus par Joinville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lucilla chasseur</dc:creator>
  <cp:lastModifiedBy>lucilla chasseur</cp:lastModifiedBy>
  <cp:revision>113</cp:revision>
  <dcterms:created xsi:type="dcterms:W3CDTF">2015-09-21T23:24:45Z</dcterms:created>
  <dcterms:modified xsi:type="dcterms:W3CDTF">2026-10-20T18:14:41Z</dcterms:modified>
</cp:coreProperties>
</file>